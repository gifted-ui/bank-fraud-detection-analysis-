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6.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7.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a:t>Fraud Cases — Notable Monthly Peaks &amp; Troughs</a:t>
            </a:r>
          </a:p>
        </c:rich>
      </c:tx>
      <c:overlay val="0"/>
    </c:title>
    <c:autoTitleDeleted val="0"/>
    <c:plotArea>
      <c:layout/>
      <c:lineChart>
        <c:grouping val="standard"/>
        <c:varyColors val="0"/>
        <c:ser>
          <c:idx val="0"/>
          <c:order val="0"/>
          <c:tx>
            <c:strRef>
              <c:f>Sheet1!$B$1</c:f>
              <c:strCache>
                <c:ptCount val="1"/>
                <c:pt idx="0">
                  <c:v>Monthly fraud cases (selected peaks &amp; troughs)</c:v>
                </c:pt>
              </c:strCache>
            </c:strRef>
          </c:tx>
          <c:spPr>
            <a:ln w="31750" cap="flat">
              <a:solidFill>
                <a:srgbClr val="1E2761"/>
              </a:solidFill>
              <a:prstDash val="solid"/>
              <a:round/>
            </a:ln>
            <a:effectLst/>
          </c:spPr>
          <c:marker>
            <c:symbol val="circle"/>
            <c:size val="5"/>
            <c:spPr>
              <a:solidFill>
                <a:srgbClr val="1E2761"/>
              </a:solidFill>
              <a:ln w="9525" cap="flat">
                <a:solidFill>
                  <a:srgbClr val="1E2761"/>
                </a:solidFill>
                <a:prstDash val="solid"/>
                <a:round/>
              </a:ln>
              <a:effectLst/>
            </c:spPr>
          </c:marker>
          <c:cat>
            <c:strRef>
              <c:f>Sheet1!$A$2:$A$19</c:f>
              <c:strCache>
                <c:ptCount val="18"/>
                <c:pt idx="0">
                  <c:v>'20-a</c:v>
                </c:pt>
                <c:pt idx="1">
                  <c:v>'20-b</c:v>
                </c:pt>
                <c:pt idx="2">
                  <c:v>'20-c</c:v>
                </c:pt>
                <c:pt idx="3">
                  <c:v>'21-a</c:v>
                </c:pt>
                <c:pt idx="4">
                  <c:v>'21-b</c:v>
                </c:pt>
                <c:pt idx="5">
                  <c:v>'21-c</c:v>
                </c:pt>
                <c:pt idx="6">
                  <c:v>'22-a</c:v>
                </c:pt>
                <c:pt idx="7">
                  <c:v>'22-b</c:v>
                </c:pt>
                <c:pt idx="8">
                  <c:v>'22-c</c:v>
                </c:pt>
                <c:pt idx="9">
                  <c:v>'22-d</c:v>
                </c:pt>
                <c:pt idx="10">
                  <c:v>'23-a</c:v>
                </c:pt>
                <c:pt idx="11">
                  <c:v>'23-b</c:v>
                </c:pt>
                <c:pt idx="12">
                  <c:v>'23-c</c:v>
                </c:pt>
                <c:pt idx="13">
                  <c:v>'23-d</c:v>
                </c:pt>
                <c:pt idx="14">
                  <c:v>'24-a</c:v>
                </c:pt>
                <c:pt idx="15">
                  <c:v>'24-b</c:v>
                </c:pt>
                <c:pt idx="16">
                  <c:v>'24-c</c:v>
                </c:pt>
                <c:pt idx="17">
                  <c:v>'24-d</c:v>
                </c:pt>
              </c:strCache>
            </c:strRef>
          </c:cat>
          <c:val>
            <c:numRef>
              <c:f>Sheet1!$B$2:$B$19</c:f>
              <c:numCache>
                <c:formatCode>General</c:formatCode>
                <c:ptCount val="18"/>
                <c:pt idx="0">
                  <c:v>945</c:v>
                </c:pt>
                <c:pt idx="1">
                  <c:v>960</c:v>
                </c:pt>
                <c:pt idx="2">
                  <c:v>869</c:v>
                </c:pt>
                <c:pt idx="3">
                  <c:v>981</c:v>
                </c:pt>
                <c:pt idx="4">
                  <c:v>807</c:v>
                </c:pt>
                <c:pt idx="5">
                  <c:v>945</c:v>
                </c:pt>
                <c:pt idx="6">
                  <c:v>953</c:v>
                </c:pt>
                <c:pt idx="7">
                  <c:v>842</c:v>
                </c:pt>
                <c:pt idx="8">
                  <c:v>878</c:v>
                </c:pt>
                <c:pt idx="9">
                  <c:v>998</c:v>
                </c:pt>
                <c:pt idx="10">
                  <c:v>945</c:v>
                </c:pt>
                <c:pt idx="11">
                  <c:v>878</c:v>
                </c:pt>
                <c:pt idx="12">
                  <c:v>831</c:v>
                </c:pt>
                <c:pt idx="13">
                  <c:v>980</c:v>
                </c:pt>
                <c:pt idx="14">
                  <c:v>998</c:v>
                </c:pt>
                <c:pt idx="15">
                  <c:v>857</c:v>
                </c:pt>
                <c:pt idx="16">
                  <c:v>871</c:v>
                </c:pt>
                <c:pt idx="17">
                  <c:v>961</c:v>
                </c:pt>
              </c:numCache>
            </c:numRef>
          </c:val>
          <c:smooth val="0"/>
          <c:extLst>
            <c:ext xmlns:c16="http://schemas.microsoft.com/office/drawing/2014/chart" uri="{C3380CC4-5D6E-409C-BE32-E72D297353CC}">
              <c16:uniqueId val="{00000000-8747-4210-8F62-28C3644DC6A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max val="1050"/>
          <c:min val="75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txPr>
    <a:bodyPr/>
    <a:lstStyle/>
    <a:p>
      <a:pPr>
        <a:defRPr>
          <a:latin typeface="Cambria" panose="02040503050406030204" pitchFamily="18" charset="0"/>
          <a:ea typeface="Cambria" panose="02040503050406030204" pitchFamily="18" charset="0"/>
        </a:defRPr>
      </a:pPr>
      <a:endParaRPr lang="en-NG"/>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a:t>Fraud Rate by Merchant Category (selected)</a:t>
            </a:r>
          </a:p>
        </c:rich>
      </c:tx>
      <c:overlay val="0"/>
    </c:title>
    <c:autoTitleDeleted val="0"/>
    <c:plotArea>
      <c:layout/>
      <c:barChart>
        <c:barDir val="col"/>
        <c:grouping val="clustered"/>
        <c:varyColors val="0"/>
        <c:ser>
          <c:idx val="0"/>
          <c:order val="0"/>
          <c:tx>
            <c:strRef>
              <c:f>Sheet1!$B$1</c:f>
              <c:strCache>
                <c:ptCount val="1"/>
                <c:pt idx="0">
                  <c:v>Fraud rate</c:v>
                </c:pt>
              </c:strCache>
            </c:strRef>
          </c:tx>
          <c:spPr>
            <a:solidFill>
              <a:srgbClr val="B3261E"/>
            </a:solidFill>
            <a:effectLst/>
          </c:spPr>
          <c:invertIfNegative val="0"/>
          <c:dPt>
            <c:idx val="0"/>
            <c:invertIfNegative val="0"/>
            <c:bubble3D val="0"/>
            <c:extLst>
              <c:ext xmlns:c16="http://schemas.microsoft.com/office/drawing/2014/chart" uri="{C3380CC4-5D6E-409C-BE32-E72D297353CC}">
                <c16:uniqueId val="{00000001-9C9E-4F6C-98F2-3C7481FBBAE9}"/>
              </c:ext>
            </c:extLst>
          </c:dPt>
          <c:dPt>
            <c:idx val="1"/>
            <c:invertIfNegative val="0"/>
            <c:bubble3D val="0"/>
            <c:extLst>
              <c:ext xmlns:c16="http://schemas.microsoft.com/office/drawing/2014/chart" uri="{C3380CC4-5D6E-409C-BE32-E72D297353CC}">
                <c16:uniqueId val="{00000003-9C9E-4F6C-98F2-3C7481FBBAE9}"/>
              </c:ext>
            </c:extLst>
          </c:dPt>
          <c:dPt>
            <c:idx val="2"/>
            <c:invertIfNegative val="0"/>
            <c:bubble3D val="0"/>
            <c:extLst>
              <c:ext xmlns:c16="http://schemas.microsoft.com/office/drawing/2014/chart" uri="{C3380CC4-5D6E-409C-BE32-E72D297353CC}">
                <c16:uniqueId val="{00000005-9C9E-4F6C-98F2-3C7481FBBAE9}"/>
              </c:ext>
            </c:extLst>
          </c:dPt>
          <c:dPt>
            <c:idx val="3"/>
            <c:invertIfNegative val="0"/>
            <c:bubble3D val="0"/>
            <c:spPr>
              <a:solidFill>
                <a:srgbClr val="1E2761"/>
              </a:solidFill>
              <a:effectLst/>
            </c:spPr>
            <c:extLst>
              <c:ext xmlns:c16="http://schemas.microsoft.com/office/drawing/2014/chart" uri="{C3380CC4-5D6E-409C-BE32-E72D297353CC}">
                <c16:uniqueId val="{00000007-9C9E-4F6C-98F2-3C7481FBBAE9}"/>
              </c:ext>
            </c:extLst>
          </c:dPt>
          <c:dLbls>
            <c:numFmt formatCode="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ATM
Withdrawal</c:v>
                </c:pt>
                <c:pt idx="1">
                  <c:v>Jewelry</c:v>
                </c:pt>
                <c:pt idx="2">
                  <c:v>Crypto
Exchange</c:v>
                </c:pt>
                <c:pt idx="3">
                  <c:v>All Other
Categories (avg.)</c:v>
                </c:pt>
              </c:strCache>
            </c:strRef>
          </c:cat>
          <c:val>
            <c:numRef>
              <c:f>Sheet1!$B$2:$B$5</c:f>
              <c:numCache>
                <c:formatCode>General</c:formatCode>
                <c:ptCount val="4"/>
                <c:pt idx="0">
                  <c:v>0.09</c:v>
                </c:pt>
                <c:pt idx="1">
                  <c:v>0.09</c:v>
                </c:pt>
                <c:pt idx="2">
                  <c:v>8.7999999999999995E-2</c:v>
                </c:pt>
                <c:pt idx="3">
                  <c:v>0.05</c:v>
                </c:pt>
              </c:numCache>
            </c:numRef>
          </c:val>
          <c:extLst>
            <c:ext xmlns:c16="http://schemas.microsoft.com/office/drawing/2014/chart" uri="{C3380CC4-5D6E-409C-BE32-E72D297353CC}">
              <c16:uniqueId val="{00000008-9C9E-4F6C-98F2-3C7481FBBAE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latin typeface="Cambria" panose="02040503050406030204" pitchFamily="18" charset="0"/>
          <a:ea typeface="Cambria" panose="02040503050406030204" pitchFamily="18" charset="0"/>
        </a:defRPr>
      </a:pPr>
      <a:endParaRPr lang="en-NG"/>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Rate</c:v>
                </c:pt>
              </c:strCache>
            </c:strRef>
          </c:tx>
          <c:spPr>
            <a:solidFill>
              <a:srgbClr val="1E2761"/>
            </a:solidFill>
            <a:effectLst/>
          </c:spPr>
          <c:invertIfNegative val="0"/>
          <c:dLbls>
            <c:numFmt formatCode="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Cheque</c:v>
                </c:pt>
                <c:pt idx="1">
                  <c:v>Credit Card</c:v>
                </c:pt>
                <c:pt idx="2">
                  <c:v>Bank Transfer</c:v>
                </c:pt>
                <c:pt idx="3">
                  <c:v>Crypto</c:v>
                </c:pt>
                <c:pt idx="4">
                  <c:v>Mobile Pay</c:v>
                </c:pt>
                <c:pt idx="5">
                  <c:v>Debit Card</c:v>
                </c:pt>
              </c:strCache>
            </c:strRef>
          </c:cat>
          <c:val>
            <c:numRef>
              <c:f>Sheet1!$B$2:$B$7</c:f>
              <c:numCache>
                <c:formatCode>General</c:formatCode>
                <c:ptCount val="6"/>
                <c:pt idx="0">
                  <c:v>5.7000000000000002E-2</c:v>
                </c:pt>
                <c:pt idx="1">
                  <c:v>5.6000000000000001E-2</c:v>
                </c:pt>
                <c:pt idx="2">
                  <c:v>5.5E-2</c:v>
                </c:pt>
                <c:pt idx="3">
                  <c:v>5.5E-2</c:v>
                </c:pt>
                <c:pt idx="4">
                  <c:v>5.5E-2</c:v>
                </c:pt>
                <c:pt idx="5">
                  <c:v>5.5E-2</c:v>
                </c:pt>
              </c:numCache>
            </c:numRef>
          </c:val>
          <c:extLst>
            <c:ext xmlns:c16="http://schemas.microsoft.com/office/drawing/2014/chart" uri="{C3380CC4-5D6E-409C-BE32-E72D297353CC}">
              <c16:uniqueId val="{00000000-0758-46E7-BC28-80574F03909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crossAx val="2094734552"/>
        <c:crosses val="autoZero"/>
        <c:auto val="1"/>
        <c:lblAlgn val="ctr"/>
        <c:lblOffset val="100"/>
        <c:noMultiLvlLbl val="1"/>
      </c:catAx>
      <c:valAx>
        <c:axId val="2094734552"/>
        <c:scaling>
          <c:orientation val="minMax"/>
          <c:max val="7.0000000000000007E-2"/>
          <c:min val="0"/>
        </c:scaling>
        <c:delete val="0"/>
        <c:axPos val="b"/>
        <c:majorGridlines>
          <c:spPr>
            <a:ln w="9525" cap="flat">
              <a:solidFill>
                <a:srgbClr val="E2E8F0"/>
              </a:solidFill>
              <a:prstDash val="solid"/>
              <a:round/>
            </a:ln>
          </c:spPr>
        </c:majorGridlines>
        <c:numFmt formatCode="0%" sourceLinked="0"/>
        <c:majorTickMark val="out"/>
        <c:minorTickMark val="none"/>
        <c:tickLblPos val="low"/>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latin typeface="Cambria" panose="02040503050406030204" pitchFamily="18" charset="0"/>
          <a:ea typeface="Cambria" panose="02040503050406030204" pitchFamily="18" charset="0"/>
        </a:defRPr>
      </a:pPr>
      <a:endParaRPr lang="en-NG"/>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Rate</c:v>
                </c:pt>
              </c:strCache>
            </c:strRef>
          </c:tx>
          <c:spPr>
            <a:solidFill>
              <a:srgbClr val="1E2761"/>
            </a:solidFill>
            <a:effectLst/>
          </c:spPr>
          <c:invertIfNegative val="0"/>
          <c:dLbls>
            <c:numFmt formatCode="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ATM</c:v>
                </c:pt>
                <c:pt idx="1">
                  <c:v>Mobile</c:v>
                </c:pt>
                <c:pt idx="2">
                  <c:v>Desktop</c:v>
                </c:pt>
                <c:pt idx="3">
                  <c:v>Tablet</c:v>
                </c:pt>
                <c:pt idx="4">
                  <c:v>POS Terminal</c:v>
                </c:pt>
              </c:strCache>
            </c:strRef>
          </c:cat>
          <c:val>
            <c:numRef>
              <c:f>Sheet1!$B$2:$B$6</c:f>
              <c:numCache>
                <c:formatCode>General</c:formatCode>
                <c:ptCount val="5"/>
                <c:pt idx="0">
                  <c:v>5.6000000000000001E-2</c:v>
                </c:pt>
                <c:pt idx="1">
                  <c:v>5.6000000000000001E-2</c:v>
                </c:pt>
                <c:pt idx="2">
                  <c:v>5.5E-2</c:v>
                </c:pt>
                <c:pt idx="3">
                  <c:v>5.5E-2</c:v>
                </c:pt>
                <c:pt idx="4">
                  <c:v>5.3999999999999999E-2</c:v>
                </c:pt>
              </c:numCache>
            </c:numRef>
          </c:val>
          <c:extLst>
            <c:ext xmlns:c16="http://schemas.microsoft.com/office/drawing/2014/chart" uri="{C3380CC4-5D6E-409C-BE32-E72D297353CC}">
              <c16:uniqueId val="{00000000-D458-4501-BD44-1FC1E893A3C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crossAx val="2094734552"/>
        <c:crosses val="autoZero"/>
        <c:auto val="1"/>
        <c:lblAlgn val="ctr"/>
        <c:lblOffset val="100"/>
        <c:noMultiLvlLbl val="1"/>
      </c:catAx>
      <c:valAx>
        <c:axId val="2094734552"/>
        <c:scaling>
          <c:orientation val="minMax"/>
          <c:max val="7.0000000000000007E-2"/>
          <c:min val="0"/>
        </c:scaling>
        <c:delete val="0"/>
        <c:axPos val="b"/>
        <c:majorGridlines>
          <c:spPr>
            <a:ln w="9525" cap="flat">
              <a:solidFill>
                <a:srgbClr val="E2E8F0"/>
              </a:solidFill>
              <a:prstDash val="solid"/>
              <a:round/>
            </a:ln>
          </c:spPr>
        </c:majorGridlines>
        <c:numFmt formatCode="0%" sourceLinked="0"/>
        <c:majorTickMark val="out"/>
        <c:minorTickMark val="none"/>
        <c:tickLblPos val="low"/>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latin typeface="Cambria" panose="02040503050406030204" pitchFamily="18" charset="0"/>
          <a:ea typeface="Cambria" panose="02040503050406030204" pitchFamily="18" charset="0"/>
        </a:defRPr>
      </a:pPr>
      <a:endParaRPr lang="en-NG"/>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Rate</c:v>
                </c:pt>
              </c:strCache>
            </c:strRef>
          </c:tx>
          <c:spPr>
            <a:solidFill>
              <a:srgbClr val="1E2761"/>
            </a:solidFill>
            <a:effectLst/>
          </c:spPr>
          <c:invertIfNegative val="0"/>
          <c:cat>
            <c:strRef>
              <c:f>Sheet1!$A$2:$A$11</c:f>
              <c:strCache>
                <c:ptCount val="10"/>
                <c:pt idx="0">
                  <c:v>Brazil</c:v>
                </c:pt>
                <c:pt idx="1">
                  <c:v>Canada</c:v>
                </c:pt>
                <c:pt idx="2">
                  <c:v>Germany</c:v>
                </c:pt>
                <c:pt idx="3">
                  <c:v>USA</c:v>
                </c:pt>
                <c:pt idx="4">
                  <c:v>UK</c:v>
                </c:pt>
                <c:pt idx="5">
                  <c:v>Australia</c:v>
                </c:pt>
                <c:pt idx="6">
                  <c:v>India</c:v>
                </c:pt>
                <c:pt idx="7">
                  <c:v>Japan</c:v>
                </c:pt>
                <c:pt idx="8">
                  <c:v>Mexico</c:v>
                </c:pt>
                <c:pt idx="9">
                  <c:v>France</c:v>
                </c:pt>
              </c:strCache>
            </c:strRef>
          </c:cat>
          <c:val>
            <c:numRef>
              <c:f>Sheet1!$B$2:$B$11</c:f>
              <c:numCache>
                <c:formatCode>General</c:formatCode>
                <c:ptCount val="10"/>
                <c:pt idx="0">
                  <c:v>0.06</c:v>
                </c:pt>
                <c:pt idx="1">
                  <c:v>0.06</c:v>
                </c:pt>
                <c:pt idx="2">
                  <c:v>0.06</c:v>
                </c:pt>
                <c:pt idx="3">
                  <c:v>0.06</c:v>
                </c:pt>
                <c:pt idx="4">
                  <c:v>0.06</c:v>
                </c:pt>
                <c:pt idx="5">
                  <c:v>0.06</c:v>
                </c:pt>
                <c:pt idx="6">
                  <c:v>0.06</c:v>
                </c:pt>
                <c:pt idx="7">
                  <c:v>0.05</c:v>
                </c:pt>
                <c:pt idx="8">
                  <c:v>0.05</c:v>
                </c:pt>
                <c:pt idx="9">
                  <c:v>0.05</c:v>
                </c:pt>
              </c:numCache>
            </c:numRef>
          </c:val>
          <c:extLst>
            <c:ext xmlns:c16="http://schemas.microsoft.com/office/drawing/2014/chart" uri="{C3380CC4-5D6E-409C-BE32-E72D297353CC}">
              <c16:uniqueId val="{00000000-353E-4384-A724-1F45F516412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max val="7.0000000000000007E-2"/>
          <c:min val="0"/>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latin typeface="Cambria" panose="02040503050406030204" pitchFamily="18" charset="0"/>
          <a:ea typeface="Cambria" panose="02040503050406030204" pitchFamily="18" charset="0"/>
        </a:defRPr>
      </a:pPr>
      <a:endParaRPr lang="en-NG"/>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Rate</c:v>
                </c:pt>
              </c:strCache>
            </c:strRef>
          </c:tx>
          <c:spPr>
            <a:solidFill>
              <a:srgbClr val="B3261E"/>
            </a:solidFill>
            <a:effectLst/>
          </c:spPr>
          <c:invertIfNegative val="0"/>
          <c:dPt>
            <c:idx val="0"/>
            <c:invertIfNegative val="0"/>
            <c:bubble3D val="0"/>
            <c:extLst>
              <c:ext xmlns:c16="http://schemas.microsoft.com/office/drawing/2014/chart" uri="{C3380CC4-5D6E-409C-BE32-E72D297353CC}">
                <c16:uniqueId val="{00000001-E4EB-48B8-8537-CB353B1C017C}"/>
              </c:ext>
            </c:extLst>
          </c:dPt>
          <c:dPt>
            <c:idx val="1"/>
            <c:invertIfNegative val="0"/>
            <c:bubble3D val="0"/>
            <c:spPr>
              <a:solidFill>
                <a:srgbClr val="1E2761"/>
              </a:solidFill>
              <a:effectLst/>
            </c:spPr>
            <c:extLst>
              <c:ext xmlns:c16="http://schemas.microsoft.com/office/drawing/2014/chart" uri="{C3380CC4-5D6E-409C-BE32-E72D297353CC}">
                <c16:uniqueId val="{00000003-E4EB-48B8-8537-CB353B1C017C}"/>
              </c:ext>
            </c:extLst>
          </c:dPt>
          <c:dPt>
            <c:idx val="2"/>
            <c:invertIfNegative val="0"/>
            <c:bubble3D val="0"/>
            <c:spPr>
              <a:solidFill>
                <a:srgbClr val="1E2761"/>
              </a:solidFill>
              <a:effectLst/>
            </c:spPr>
            <c:extLst>
              <c:ext xmlns:c16="http://schemas.microsoft.com/office/drawing/2014/chart" uri="{C3380CC4-5D6E-409C-BE32-E72D297353CC}">
                <c16:uniqueId val="{00000005-E4EB-48B8-8537-CB353B1C017C}"/>
              </c:ext>
            </c:extLst>
          </c:dPt>
          <c:dPt>
            <c:idx val="3"/>
            <c:invertIfNegative val="0"/>
            <c:bubble3D val="0"/>
            <c:spPr>
              <a:solidFill>
                <a:srgbClr val="1E2761"/>
              </a:solidFill>
              <a:effectLst/>
            </c:spPr>
            <c:extLst>
              <c:ext xmlns:c16="http://schemas.microsoft.com/office/drawing/2014/chart" uri="{C3380CC4-5D6E-409C-BE32-E72D297353CC}">
                <c16:uniqueId val="{00000007-E4EB-48B8-8537-CB353B1C017C}"/>
              </c:ext>
            </c:extLst>
          </c:dPt>
          <c:dLbls>
            <c:numFmt formatCode="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Poor</c:v>
                </c:pt>
                <c:pt idx="1">
                  <c:v>Fair</c:v>
                </c:pt>
                <c:pt idx="2">
                  <c:v>Excellent</c:v>
                </c:pt>
                <c:pt idx="3">
                  <c:v>Good</c:v>
                </c:pt>
              </c:strCache>
            </c:strRef>
          </c:cat>
          <c:val>
            <c:numRef>
              <c:f>Sheet1!$B$2:$B$5</c:f>
              <c:numCache>
                <c:formatCode>General</c:formatCode>
                <c:ptCount val="4"/>
                <c:pt idx="0">
                  <c:v>5.8999999999999997E-2</c:v>
                </c:pt>
                <c:pt idx="1">
                  <c:v>5.5E-2</c:v>
                </c:pt>
                <c:pt idx="2">
                  <c:v>5.5E-2</c:v>
                </c:pt>
                <c:pt idx="3">
                  <c:v>5.3999999999999999E-2</c:v>
                </c:pt>
              </c:numCache>
            </c:numRef>
          </c:val>
          <c:extLst>
            <c:ext xmlns:c16="http://schemas.microsoft.com/office/drawing/2014/chart" uri="{C3380CC4-5D6E-409C-BE32-E72D297353CC}">
              <c16:uniqueId val="{00000008-E4EB-48B8-8537-CB353B1C017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crossAx val="2094734552"/>
        <c:crosses val="autoZero"/>
        <c:auto val="1"/>
        <c:lblAlgn val="ctr"/>
        <c:lblOffset val="100"/>
        <c:noMultiLvlLbl val="1"/>
      </c:catAx>
      <c:valAx>
        <c:axId val="2094734552"/>
        <c:scaling>
          <c:orientation val="minMax"/>
          <c:max val="7.0000000000000007E-2"/>
          <c:min val="0"/>
        </c:scaling>
        <c:delete val="0"/>
        <c:axPos val="b"/>
        <c:majorGridlines>
          <c:spPr>
            <a:ln w="9525" cap="flat">
              <a:solidFill>
                <a:srgbClr val="E2E8F0"/>
              </a:solidFill>
              <a:prstDash val="solid"/>
              <a:round/>
            </a:ln>
          </c:spPr>
        </c:majorGridlines>
        <c:numFmt formatCode="0%" sourceLinked="0"/>
        <c:majorTickMark val="out"/>
        <c:minorTickMark val="none"/>
        <c:tickLblPos val="low"/>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latin typeface="Cambria" panose="02040503050406030204" pitchFamily="18" charset="0"/>
          <a:ea typeface="Cambria" panose="02040503050406030204" pitchFamily="18" charset="0"/>
        </a:defRPr>
      </a:pPr>
      <a:endParaRPr lang="en-NG"/>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Rate</c:v>
                </c:pt>
              </c:strCache>
            </c:strRef>
          </c:tx>
          <c:spPr>
            <a:solidFill>
              <a:srgbClr val="B3261E"/>
            </a:solidFill>
            <a:effectLst/>
          </c:spPr>
          <c:invertIfNegative val="0"/>
          <c:dPt>
            <c:idx val="0"/>
            <c:invertIfNegative val="0"/>
            <c:bubble3D val="0"/>
            <c:extLst>
              <c:ext xmlns:c16="http://schemas.microsoft.com/office/drawing/2014/chart" uri="{C3380CC4-5D6E-409C-BE32-E72D297353CC}">
                <c16:uniqueId val="{00000001-5E64-4B0D-A8C5-9537F4073EAC}"/>
              </c:ext>
            </c:extLst>
          </c:dPt>
          <c:dPt>
            <c:idx val="1"/>
            <c:invertIfNegative val="0"/>
            <c:bubble3D val="0"/>
            <c:spPr>
              <a:solidFill>
                <a:srgbClr val="1E2761"/>
              </a:solidFill>
              <a:effectLst/>
            </c:spPr>
            <c:extLst>
              <c:ext xmlns:c16="http://schemas.microsoft.com/office/drawing/2014/chart" uri="{C3380CC4-5D6E-409C-BE32-E72D297353CC}">
                <c16:uniqueId val="{00000003-5E64-4B0D-A8C5-9537F4073EAC}"/>
              </c:ext>
            </c:extLst>
          </c:dPt>
          <c:dPt>
            <c:idx val="2"/>
            <c:invertIfNegative val="0"/>
            <c:bubble3D val="0"/>
            <c:spPr>
              <a:solidFill>
                <a:srgbClr val="1E2761"/>
              </a:solidFill>
              <a:effectLst/>
            </c:spPr>
            <c:extLst>
              <c:ext xmlns:c16="http://schemas.microsoft.com/office/drawing/2014/chart" uri="{C3380CC4-5D6E-409C-BE32-E72D297353CC}">
                <c16:uniqueId val="{00000005-5E64-4B0D-A8C5-9537F4073EAC}"/>
              </c:ext>
            </c:extLst>
          </c:dPt>
          <c:dPt>
            <c:idx val="3"/>
            <c:invertIfNegative val="0"/>
            <c:bubble3D val="0"/>
            <c:spPr>
              <a:solidFill>
                <a:srgbClr val="1E2761"/>
              </a:solidFill>
              <a:effectLst/>
            </c:spPr>
            <c:extLst>
              <c:ext xmlns:c16="http://schemas.microsoft.com/office/drawing/2014/chart" uri="{C3380CC4-5D6E-409C-BE32-E72D297353CC}">
                <c16:uniqueId val="{00000007-5E64-4B0D-A8C5-9537F4073EAC}"/>
              </c:ext>
            </c:extLst>
          </c:dPt>
          <c:dLbls>
            <c:numFmt formatCode="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Very High</c:v>
                </c:pt>
                <c:pt idx="1">
                  <c:v>High</c:v>
                </c:pt>
                <c:pt idx="2">
                  <c:v>Medium</c:v>
                </c:pt>
                <c:pt idx="3">
                  <c:v>Low</c:v>
                </c:pt>
              </c:strCache>
            </c:strRef>
          </c:cat>
          <c:val>
            <c:numRef>
              <c:f>Sheet1!$B$2:$B$5</c:f>
              <c:numCache>
                <c:formatCode>General</c:formatCode>
                <c:ptCount val="4"/>
                <c:pt idx="0">
                  <c:v>6.0999999999999999E-2</c:v>
                </c:pt>
                <c:pt idx="1">
                  <c:v>5.7000000000000002E-2</c:v>
                </c:pt>
                <c:pt idx="2">
                  <c:v>5.5E-2</c:v>
                </c:pt>
                <c:pt idx="3">
                  <c:v>5.3999999999999999E-2</c:v>
                </c:pt>
              </c:numCache>
            </c:numRef>
          </c:val>
          <c:extLst>
            <c:ext xmlns:c16="http://schemas.microsoft.com/office/drawing/2014/chart" uri="{C3380CC4-5D6E-409C-BE32-E72D297353CC}">
              <c16:uniqueId val="{00000008-5E64-4B0D-A8C5-9537F4073EA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crossAx val="2094734552"/>
        <c:crosses val="autoZero"/>
        <c:auto val="1"/>
        <c:lblAlgn val="ctr"/>
        <c:lblOffset val="100"/>
        <c:noMultiLvlLbl val="1"/>
      </c:catAx>
      <c:valAx>
        <c:axId val="2094734552"/>
        <c:scaling>
          <c:orientation val="minMax"/>
          <c:max val="7.0000000000000007E-2"/>
          <c:min val="0"/>
        </c:scaling>
        <c:delete val="0"/>
        <c:axPos val="b"/>
        <c:majorGridlines>
          <c:spPr>
            <a:ln w="9525" cap="flat">
              <a:solidFill>
                <a:srgbClr val="E2E8F0"/>
              </a:solidFill>
              <a:prstDash val="solid"/>
              <a:round/>
            </a:ln>
          </c:spPr>
        </c:majorGridlines>
        <c:numFmt formatCode="0%" sourceLinked="0"/>
        <c:majorTickMark val="out"/>
        <c:minorTickMark val="none"/>
        <c:tickLblPos val="low"/>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latin typeface="Cambria" panose="02040503050406030204" pitchFamily="18" charset="0"/>
          <a:ea typeface="Cambria" panose="02040503050406030204" pitchFamily="18" charset="0"/>
        </a:defRPr>
      </a:pPr>
      <a:endParaRPr lang="en-NG"/>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Rate</c:v>
                </c:pt>
              </c:strCache>
            </c:strRef>
          </c:tx>
          <c:spPr>
            <a:solidFill>
              <a:srgbClr val="1E2761"/>
            </a:solidFill>
            <a:effectLst/>
          </c:spPr>
          <c:invertIfNegative val="0"/>
          <c:cat>
            <c:strRef>
              <c:f>Sheet1!$A$2:$A$5</c:f>
              <c:strCache>
                <c:ptCount val="4"/>
                <c:pt idx="0">
                  <c:v>18-25</c:v>
                </c:pt>
                <c:pt idx="1">
                  <c:v>36-50</c:v>
                </c:pt>
                <c:pt idx="2">
                  <c:v>26-35</c:v>
                </c:pt>
                <c:pt idx="3">
                  <c:v>50+</c:v>
                </c:pt>
              </c:strCache>
            </c:strRef>
          </c:cat>
          <c:val>
            <c:numRef>
              <c:f>Sheet1!$B$2:$B$5</c:f>
              <c:numCache>
                <c:formatCode>General</c:formatCode>
                <c:ptCount val="4"/>
                <c:pt idx="0">
                  <c:v>5.6000000000000001E-2</c:v>
                </c:pt>
                <c:pt idx="1">
                  <c:v>5.6000000000000001E-2</c:v>
                </c:pt>
                <c:pt idx="2">
                  <c:v>5.5E-2</c:v>
                </c:pt>
                <c:pt idx="3">
                  <c:v>5.3999999999999999E-2</c:v>
                </c:pt>
              </c:numCache>
            </c:numRef>
          </c:val>
          <c:extLst>
            <c:ext xmlns:c16="http://schemas.microsoft.com/office/drawing/2014/chart" uri="{C3380CC4-5D6E-409C-BE32-E72D297353CC}">
              <c16:uniqueId val="{00000000-AE03-4DA5-9D9F-EE7D4ED8DCA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max val="7.0000000000000007E-2"/>
          <c:min val="0"/>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latin typeface="Cambria" panose="02040503050406030204" pitchFamily="18" charset="0"/>
          <a:ea typeface="Cambria" panose="02040503050406030204" pitchFamily="18" charset="0"/>
        </a:defRPr>
      </a:pPr>
      <a:endParaRPr lang="en-NG"/>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a:pPr>
            <a:r>
              <a:rPr lang="en-US"/>
              <a:t>Fraud Rate by Hour of Day (0 = midnight)</a:t>
            </a:r>
          </a:p>
        </c:rich>
      </c:tx>
      <c:overlay val="0"/>
    </c:title>
    <c:autoTitleDeleted val="0"/>
    <c:plotArea>
      <c:layout/>
      <c:barChart>
        <c:barDir val="col"/>
        <c:grouping val="clustered"/>
        <c:varyColors val="0"/>
        <c:ser>
          <c:idx val="0"/>
          <c:order val="0"/>
          <c:tx>
            <c:strRef>
              <c:f>Sheet1!$B$1</c:f>
              <c:strCache>
                <c:ptCount val="1"/>
                <c:pt idx="0">
                  <c:v>Fraud rate by hour</c:v>
                </c:pt>
              </c:strCache>
            </c:strRef>
          </c:tx>
          <c:spPr>
            <a:solidFill>
              <a:srgbClr val="1E2761"/>
            </a:solidFill>
            <a:effectLst/>
          </c:spPr>
          <c:invertIfNegative val="0"/>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7.8E-2</c:v>
                </c:pt>
                <c:pt idx="1">
                  <c:v>7.8E-2</c:v>
                </c:pt>
                <c:pt idx="2">
                  <c:v>7.6999999999999999E-2</c:v>
                </c:pt>
                <c:pt idx="3">
                  <c:v>7.8E-2</c:v>
                </c:pt>
                <c:pt idx="4">
                  <c:v>8.1000000000000003E-2</c:v>
                </c:pt>
                <c:pt idx="5">
                  <c:v>7.8E-2</c:v>
                </c:pt>
                <c:pt idx="6">
                  <c:v>5.6000000000000001E-2</c:v>
                </c:pt>
                <c:pt idx="7">
                  <c:v>0.04</c:v>
                </c:pt>
                <c:pt idx="8">
                  <c:v>4.3999999999999997E-2</c:v>
                </c:pt>
                <c:pt idx="9">
                  <c:v>0.04</c:v>
                </c:pt>
                <c:pt idx="10">
                  <c:v>3.9E-2</c:v>
                </c:pt>
                <c:pt idx="11">
                  <c:v>0.04</c:v>
                </c:pt>
                <c:pt idx="12">
                  <c:v>4.1000000000000002E-2</c:v>
                </c:pt>
                <c:pt idx="13">
                  <c:v>0.04</c:v>
                </c:pt>
                <c:pt idx="14">
                  <c:v>4.1000000000000002E-2</c:v>
                </c:pt>
                <c:pt idx="15">
                  <c:v>0.04</c:v>
                </c:pt>
                <c:pt idx="16">
                  <c:v>4.1000000000000002E-2</c:v>
                </c:pt>
                <c:pt idx="17">
                  <c:v>0.04</c:v>
                </c:pt>
                <c:pt idx="18">
                  <c:v>4.1000000000000002E-2</c:v>
                </c:pt>
                <c:pt idx="19">
                  <c:v>4.2000000000000003E-2</c:v>
                </c:pt>
                <c:pt idx="20">
                  <c:v>4.4999999999999998E-2</c:v>
                </c:pt>
                <c:pt idx="21">
                  <c:v>5.5E-2</c:v>
                </c:pt>
                <c:pt idx="22">
                  <c:v>7.9000000000000001E-2</c:v>
                </c:pt>
                <c:pt idx="23">
                  <c:v>7.9000000000000001E-2</c:v>
                </c:pt>
              </c:numCache>
            </c:numRef>
          </c:val>
          <c:extLst>
            <c:ext xmlns:c16="http://schemas.microsoft.com/office/drawing/2014/chart" uri="{C3380CC4-5D6E-409C-BE32-E72D297353CC}">
              <c16:uniqueId val="{00000000-0334-44CC-9EC1-A816B00A7FA2}"/>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max val="0.09"/>
          <c:min val="0"/>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latin typeface="Cambria" panose="02040503050406030204" pitchFamily="18" charset="0"/>
          <a:ea typeface="Cambria" panose="02040503050406030204" pitchFamily="18" charset="0"/>
        </a:defRPr>
      </a:pPr>
      <a:endParaRPr lang="en-NG"/>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Rate</c:v>
                </c:pt>
              </c:strCache>
            </c:strRef>
          </c:tx>
          <c:spPr>
            <a:solidFill>
              <a:srgbClr val="1E2761"/>
            </a:solidFill>
            <a:effectLst/>
          </c:spPr>
          <c:invertIfNegative val="0"/>
          <c:dLbls>
            <c:numFmt formatCode="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Weekend</c:v>
                </c:pt>
                <c:pt idx="1">
                  <c:v>Weekday</c:v>
                </c:pt>
              </c:strCache>
            </c:strRef>
          </c:cat>
          <c:val>
            <c:numRef>
              <c:f>Sheet1!$B$2:$B$3</c:f>
              <c:numCache>
                <c:formatCode>General</c:formatCode>
                <c:ptCount val="2"/>
                <c:pt idx="0">
                  <c:v>5.6000000000000001E-2</c:v>
                </c:pt>
                <c:pt idx="1">
                  <c:v>5.5E-2</c:v>
                </c:pt>
              </c:numCache>
            </c:numRef>
          </c:val>
          <c:extLst>
            <c:ext xmlns:c16="http://schemas.microsoft.com/office/drawing/2014/chart" uri="{C3380CC4-5D6E-409C-BE32-E72D297353CC}">
              <c16:uniqueId val="{00000000-7382-42CB-A32B-77E1AFDD711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crossAx val="2094734552"/>
        <c:crosses val="autoZero"/>
        <c:auto val="1"/>
        <c:lblAlgn val="ctr"/>
        <c:lblOffset val="100"/>
        <c:noMultiLvlLbl val="1"/>
      </c:catAx>
      <c:valAx>
        <c:axId val="2094734552"/>
        <c:scaling>
          <c:orientation val="minMax"/>
          <c:max val="7.0000000000000007E-2"/>
          <c:min val="0"/>
        </c:scaling>
        <c:delete val="0"/>
        <c:axPos val="b"/>
        <c:majorGridlines>
          <c:spPr>
            <a:ln w="9525" cap="flat">
              <a:solidFill>
                <a:srgbClr val="E2E8F0"/>
              </a:solidFill>
              <a:prstDash val="solid"/>
              <a:round/>
            </a:ln>
          </c:spPr>
        </c:majorGridlines>
        <c:numFmt formatCode="0%" sourceLinked="0"/>
        <c:majorTickMark val="out"/>
        <c:minorTickMark val="none"/>
        <c:tickLblPos val="low"/>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latin typeface="Cambria" panose="02040503050406030204" pitchFamily="18" charset="0"/>
          <a:ea typeface="Cambria" panose="02040503050406030204" pitchFamily="18" charset="0"/>
        </a:defRPr>
      </a:pPr>
      <a:endParaRPr lang="en-NG"/>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Rate</c:v>
                </c:pt>
              </c:strCache>
            </c:strRef>
          </c:tx>
          <c:spPr>
            <a:solidFill>
              <a:srgbClr val="1E2761"/>
            </a:solidFill>
            <a:effectLst/>
          </c:spPr>
          <c:invertIfNegative val="0"/>
          <c:dLbls>
            <c:numFmt formatCode="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Moderate</c:v>
                </c:pt>
                <c:pt idx="1">
                  <c:v>Far</c:v>
                </c:pt>
                <c:pt idx="2">
                  <c:v>Very Far</c:v>
                </c:pt>
                <c:pt idx="3">
                  <c:v>Near</c:v>
                </c:pt>
              </c:strCache>
            </c:strRef>
          </c:cat>
          <c:val>
            <c:numRef>
              <c:f>Sheet1!$B$2:$B$5</c:f>
              <c:numCache>
                <c:formatCode>General</c:formatCode>
                <c:ptCount val="4"/>
                <c:pt idx="0">
                  <c:v>5.6000000000000001E-2</c:v>
                </c:pt>
                <c:pt idx="1">
                  <c:v>5.5E-2</c:v>
                </c:pt>
                <c:pt idx="2">
                  <c:v>5.5E-2</c:v>
                </c:pt>
                <c:pt idx="3">
                  <c:v>5.3999999999999999E-2</c:v>
                </c:pt>
              </c:numCache>
            </c:numRef>
          </c:val>
          <c:extLst>
            <c:ext xmlns:c16="http://schemas.microsoft.com/office/drawing/2014/chart" uri="{C3380CC4-5D6E-409C-BE32-E72D297353CC}">
              <c16:uniqueId val="{00000000-46DB-4115-9DE0-1E39DB53692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max val="7.0000000000000007E-2"/>
          <c:min val="0"/>
        </c:scaling>
        <c:delete val="0"/>
        <c:axPos val="l"/>
        <c:numFmt formatCode="0%"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3F6FC"/>
    </a:solidFill>
    <a:ln>
      <a:noFill/>
    </a:ln>
    <a:effectLst/>
  </c:spPr>
  <c:txPr>
    <a:bodyPr/>
    <a:lstStyle/>
    <a:p>
      <a:pPr>
        <a:defRPr>
          <a:latin typeface="Cambria" panose="02040503050406030204" pitchFamily="18" charset="0"/>
          <a:ea typeface="Cambria" panose="02040503050406030204" pitchFamily="18" charset="0"/>
        </a:defRPr>
      </a:pPr>
      <a:endParaRPr lang="en-NG"/>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8549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chart" Target="../charts/chart5.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chart" Target="../charts/chart8.xml"/><Relationship Id="rId4" Type="http://schemas.openxmlformats.org/officeDocument/2006/relationships/chart" Target="../charts/chart7.xml"/></Relationships>
</file>

<file path=ppt/slides/_rels/slide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chart" Target="../charts/chart10.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chart" Target="../charts/char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7"/>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E2761"/>
          </a:solidFill>
          <a:ln/>
        </p:spPr>
      </p:sp>
      <p:sp>
        <p:nvSpPr>
          <p:cNvPr id="3" name="Shape 1"/>
          <p:cNvSpPr/>
          <p:nvPr/>
        </p:nvSpPr>
        <p:spPr>
          <a:xfrm>
            <a:off x="9692640" y="-1097280"/>
            <a:ext cx="4114800" cy="4114800"/>
          </a:xfrm>
          <a:prstGeom prst="ellipse">
            <a:avLst/>
          </a:prstGeom>
          <a:solidFill>
            <a:srgbClr val="273579"/>
          </a:solidFill>
          <a:ln/>
        </p:spPr>
      </p:sp>
      <p:sp>
        <p:nvSpPr>
          <p:cNvPr id="4" name="Shape 2"/>
          <p:cNvSpPr/>
          <p:nvPr/>
        </p:nvSpPr>
        <p:spPr>
          <a:xfrm>
            <a:off x="-2377440" y="4206240"/>
            <a:ext cx="4754880" cy="4754880"/>
          </a:xfrm>
          <a:prstGeom prst="ellipse">
            <a:avLst/>
          </a:prstGeom>
          <a:solidFill>
            <a:srgbClr val="273579"/>
          </a:solidFill>
          <a:ln/>
        </p:spPr>
      </p:sp>
      <p:sp>
        <p:nvSpPr>
          <p:cNvPr id="5" name="Shape 3"/>
          <p:cNvSpPr/>
          <p:nvPr/>
        </p:nvSpPr>
        <p:spPr>
          <a:xfrm>
            <a:off x="640080" y="640080"/>
            <a:ext cx="685800" cy="685800"/>
          </a:xfrm>
          <a:prstGeom prst="ellipse">
            <a:avLst/>
          </a:prstGeom>
          <a:solidFill>
            <a:srgbClr val="2B3878"/>
          </a:solidFill>
          <a:ln/>
        </p:spPr>
      </p:sp>
      <p:pic>
        <p:nvPicPr>
          <p:cNvPr id="6" name="Image 0" descr="icons/shield_white.png"/>
          <p:cNvPicPr>
            <a:picLocks noChangeAspect="1"/>
          </p:cNvPicPr>
          <p:nvPr/>
        </p:nvPicPr>
        <p:blipFill>
          <a:blip r:embed="rId3"/>
          <a:stretch>
            <a:fillRect/>
          </a:stretch>
        </p:blipFill>
        <p:spPr>
          <a:xfrm>
            <a:off x="729234" y="729234"/>
            <a:ext cx="507492" cy="507492"/>
          </a:xfrm>
          <a:prstGeom prst="rect">
            <a:avLst/>
          </a:prstGeom>
        </p:spPr>
      </p:pic>
      <p:sp>
        <p:nvSpPr>
          <p:cNvPr id="7" name="Text 4"/>
          <p:cNvSpPr/>
          <p:nvPr/>
        </p:nvSpPr>
        <p:spPr>
          <a:xfrm>
            <a:off x="640080" y="2423160"/>
            <a:ext cx="7315200" cy="365760"/>
          </a:xfrm>
          <a:prstGeom prst="rect">
            <a:avLst/>
          </a:prstGeom>
          <a:noFill/>
          <a:ln/>
        </p:spPr>
        <p:txBody>
          <a:bodyPr wrap="square" rtlCol="0" anchor="ctr"/>
          <a:lstStyle/>
          <a:p>
            <a:pPr marL="0" indent="0">
              <a:buNone/>
            </a:pPr>
            <a:r>
              <a:rPr lang="en-US" sz="1400" b="1" kern="0" spc="300" dirty="0">
                <a:solidFill>
                  <a:srgbClr val="CADCFC"/>
                </a:solidFill>
                <a:latin typeface="Cambria" panose="02040503050406030204" pitchFamily="18" charset="0"/>
                <a:ea typeface="Cambria" panose="02040503050406030204" pitchFamily="18" charset="0"/>
                <a:cs typeface="Calibri" pitchFamily="34" charset="-120"/>
              </a:rPr>
              <a:t>EXECUTIVE ANALYTICS REPORT</a:t>
            </a:r>
            <a:endParaRPr lang="en-US" sz="1400" dirty="0">
              <a:latin typeface="Cambria" panose="02040503050406030204" pitchFamily="18" charset="0"/>
              <a:ea typeface="Cambria" panose="02040503050406030204" pitchFamily="18" charset="0"/>
            </a:endParaRPr>
          </a:p>
        </p:txBody>
      </p:sp>
      <p:sp>
        <p:nvSpPr>
          <p:cNvPr id="8" name="Text 5"/>
          <p:cNvSpPr/>
          <p:nvPr/>
        </p:nvSpPr>
        <p:spPr>
          <a:xfrm>
            <a:off x="594360" y="2788920"/>
            <a:ext cx="9601200" cy="1828800"/>
          </a:xfrm>
          <a:prstGeom prst="rect">
            <a:avLst/>
          </a:prstGeom>
          <a:noFill/>
          <a:ln/>
        </p:spPr>
        <p:txBody>
          <a:bodyPr wrap="square" lIns="0" tIns="0" rIns="0" bIns="0" rtlCol="0" anchor="ctr"/>
          <a:lstStyle/>
          <a:p>
            <a:pPr marL="0" indent="0">
              <a:lnSpc>
                <a:spcPct val="105000"/>
              </a:lnSpc>
              <a:buNone/>
            </a:pPr>
            <a:r>
              <a:rPr lang="en-US" sz="4800" b="1" dirty="0">
                <a:solidFill>
                  <a:srgbClr val="FFFFFF"/>
                </a:solidFill>
                <a:latin typeface="Cambria" pitchFamily="34" charset="0"/>
                <a:ea typeface="Cambria" pitchFamily="34" charset="-122"/>
                <a:cs typeface="Cambria" pitchFamily="34" charset="-120"/>
              </a:rPr>
              <a:t>Bank Fraud Detection</a:t>
            </a:r>
            <a:endParaRPr lang="en-US" sz="4800" dirty="0"/>
          </a:p>
          <a:p>
            <a:pPr marL="0" indent="0">
              <a:lnSpc>
                <a:spcPct val="105000"/>
              </a:lnSpc>
              <a:buNone/>
            </a:pPr>
            <a:r>
              <a:rPr lang="en-US" sz="4800" b="1" dirty="0">
                <a:solidFill>
                  <a:srgbClr val="FFFFFF"/>
                </a:solidFill>
                <a:latin typeface="Cambria" pitchFamily="34" charset="0"/>
                <a:ea typeface="Cambria" pitchFamily="34" charset="-122"/>
                <a:cs typeface="Cambria" pitchFamily="34" charset="-120"/>
              </a:rPr>
              <a:t>Analysis</a:t>
            </a:r>
            <a:endParaRPr lang="en-US" sz="4800" dirty="0"/>
          </a:p>
        </p:txBody>
      </p:sp>
      <p:sp>
        <p:nvSpPr>
          <p:cNvPr id="9" name="Text 6"/>
          <p:cNvSpPr/>
          <p:nvPr/>
        </p:nvSpPr>
        <p:spPr>
          <a:xfrm>
            <a:off x="640080" y="4617720"/>
            <a:ext cx="9144000" cy="457200"/>
          </a:xfrm>
          <a:prstGeom prst="rect">
            <a:avLst/>
          </a:prstGeom>
          <a:noFill/>
          <a:ln/>
        </p:spPr>
        <p:txBody>
          <a:bodyPr wrap="square" rtlCol="0" anchor="ctr"/>
          <a:lstStyle/>
          <a:p>
            <a:pPr marL="0" indent="0">
              <a:buNone/>
            </a:pPr>
            <a:r>
              <a:rPr lang="en-US" sz="1600" i="1" dirty="0">
                <a:solidFill>
                  <a:srgbClr val="CADCFC"/>
                </a:solidFill>
                <a:latin typeface="Cambria" panose="02040503050406030204" pitchFamily="18" charset="0"/>
                <a:ea typeface="Cambria" panose="02040503050406030204" pitchFamily="18" charset="0"/>
                <a:cs typeface="Calibri" pitchFamily="34" charset="-120"/>
              </a:rPr>
              <a:t>Transaction, Behavioral &amp; Risk-Driver Review across 1,000,000 Transactions (2020–2024)</a:t>
            </a:r>
            <a:endParaRPr lang="en-US" sz="1600" dirty="0">
              <a:latin typeface="Cambria" panose="02040503050406030204" pitchFamily="18" charset="0"/>
              <a:ea typeface="Cambria" panose="02040503050406030204" pitchFamily="18" charset="0"/>
            </a:endParaRPr>
          </a:p>
        </p:txBody>
      </p:sp>
      <p:sp>
        <p:nvSpPr>
          <p:cNvPr id="10" name="Shape 7"/>
          <p:cNvSpPr/>
          <p:nvPr/>
        </p:nvSpPr>
        <p:spPr>
          <a:xfrm>
            <a:off x="640080" y="5623560"/>
            <a:ext cx="2743200" cy="0"/>
          </a:xfrm>
          <a:prstGeom prst="line">
            <a:avLst/>
          </a:prstGeom>
          <a:noFill/>
          <a:ln w="12700">
            <a:solidFill>
              <a:srgbClr val="3E4A8C"/>
            </a:solidFill>
            <a:prstDash val="solid"/>
          </a:ln>
        </p:spPr>
      </p:sp>
      <p:sp>
        <p:nvSpPr>
          <p:cNvPr id="11" name="Text 8"/>
          <p:cNvSpPr/>
          <p:nvPr/>
        </p:nvSpPr>
        <p:spPr>
          <a:xfrm>
            <a:off x="640080" y="5760720"/>
            <a:ext cx="5486400" cy="320040"/>
          </a:xfrm>
          <a:prstGeom prst="rect">
            <a:avLst/>
          </a:prstGeom>
          <a:noFill/>
          <a:ln/>
        </p:spPr>
        <p:txBody>
          <a:bodyPr wrap="square" rtlCol="0" anchor="ctr"/>
          <a:lstStyle/>
          <a:p>
            <a:pPr marL="0" indent="0">
              <a:buNone/>
            </a:pPr>
            <a:r>
              <a:rPr lang="en-US" sz="1200" dirty="0">
                <a:solidFill>
                  <a:srgbClr val="9FB0E8"/>
                </a:solidFill>
                <a:latin typeface="Cambria" panose="02040503050406030204" pitchFamily="18" charset="0"/>
                <a:ea typeface="Cambria" panose="02040503050406030204" pitchFamily="18" charset="0"/>
                <a:cs typeface="Calibri" pitchFamily="34" charset="-120"/>
              </a:rPr>
              <a:t>Prepared</a:t>
            </a:r>
            <a:r>
              <a:rPr lang="en-US" sz="1200" dirty="0">
                <a:solidFill>
                  <a:srgbClr val="9FB0E8"/>
                </a:solidFill>
                <a:latin typeface="Calibri" pitchFamily="34" charset="0"/>
                <a:ea typeface="Calibri" pitchFamily="34" charset="-122"/>
                <a:cs typeface="Calibri" pitchFamily="34" charset="-120"/>
              </a:rPr>
              <a:t> by </a:t>
            </a:r>
            <a:r>
              <a:rPr lang="en-US" sz="1200" dirty="0">
                <a:solidFill>
                  <a:srgbClr val="9FB0E8"/>
                </a:solidFill>
                <a:latin typeface="Cambria" panose="02040503050406030204" pitchFamily="18" charset="0"/>
                <a:ea typeface="Cambria" panose="02040503050406030204" pitchFamily="18" charset="0"/>
                <a:cs typeface="Calibri" pitchFamily="34" charset="-120"/>
              </a:rPr>
              <a:t>Deborah</a:t>
            </a:r>
            <a:r>
              <a:rPr lang="en-US" sz="1200" dirty="0">
                <a:solidFill>
                  <a:srgbClr val="9FB0E8"/>
                </a:solidFill>
                <a:latin typeface="Calibri" pitchFamily="34" charset="0"/>
                <a:ea typeface="Calibri" pitchFamily="34" charset="-122"/>
                <a:cs typeface="Calibri" pitchFamily="34" charset="-120"/>
              </a:rPr>
              <a:t> Obimakinde </a:t>
            </a:r>
            <a:endParaRPr lang="en-US" sz="1200" dirty="0"/>
          </a:p>
        </p:txBody>
      </p:sp>
      <p:sp>
        <p:nvSpPr>
          <p:cNvPr id="12" name="Text 9"/>
          <p:cNvSpPr/>
          <p:nvPr/>
        </p:nvSpPr>
        <p:spPr>
          <a:xfrm>
            <a:off x="640080" y="6080760"/>
            <a:ext cx="5486400" cy="320040"/>
          </a:xfrm>
          <a:prstGeom prst="rect">
            <a:avLst/>
          </a:prstGeom>
          <a:noFill/>
          <a:ln/>
        </p:spPr>
        <p:txBody>
          <a:bodyPr wrap="square" rtlCol="0" anchor="ctr"/>
          <a:lstStyle/>
          <a:p>
            <a:pPr marL="0" indent="0">
              <a:buNone/>
            </a:pPr>
            <a:r>
              <a:rPr lang="en-US" sz="1200" dirty="0">
                <a:solidFill>
                  <a:srgbClr val="9FB0E8"/>
                </a:solidFill>
                <a:latin typeface="Cambria" panose="02040503050406030204" pitchFamily="18" charset="0"/>
                <a:ea typeface="Cambria" panose="02040503050406030204" pitchFamily="18" charset="0"/>
                <a:cs typeface="Calibri" pitchFamily="34" charset="-120"/>
              </a:rPr>
              <a:t>July 2026</a:t>
            </a:r>
            <a:endParaRPr lang="en-US" sz="1200"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B3261E"/>
                </a:solidFill>
                <a:latin typeface="Cambria" panose="02040503050406030204" pitchFamily="18" charset="0"/>
                <a:ea typeface="Cambria" panose="02040503050406030204" pitchFamily="18" charset="0"/>
                <a:cs typeface="Calibri" pitchFamily="34" charset="-120"/>
              </a:rPr>
              <a:t>OVERVIEW</a:t>
            </a:r>
            <a:endParaRPr lang="en-US" sz="1200" dirty="0">
              <a:latin typeface="Cambria" panose="02040503050406030204" pitchFamily="18" charset="0"/>
              <a:ea typeface="Cambria" panose="02040503050406030204" pitchFamily="18" charset="0"/>
            </a:endParaRPr>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2800" b="1" dirty="0">
                <a:solidFill>
                  <a:srgbClr val="1E2761"/>
                </a:solidFill>
                <a:latin typeface="Cambria" panose="02040503050406030204" pitchFamily="18" charset="0"/>
                <a:ea typeface="Cambria" panose="02040503050406030204" pitchFamily="18" charset="0"/>
                <a:cs typeface="Cambria" pitchFamily="34" charset="-120"/>
              </a:rPr>
              <a:t>Executive Summary</a:t>
            </a:r>
            <a:endParaRPr lang="en-US" sz="2800" dirty="0">
              <a:latin typeface="Cambria" panose="02040503050406030204" pitchFamily="18" charset="0"/>
              <a:ea typeface="Cambria" panose="02040503050406030204" pitchFamily="18" charset="0"/>
            </a:endParaRPr>
          </a:p>
        </p:txBody>
      </p:sp>
      <p:sp>
        <p:nvSpPr>
          <p:cNvPr id="4" name="Shape 2"/>
          <p:cNvSpPr/>
          <p:nvPr/>
        </p:nvSpPr>
        <p:spPr>
          <a:xfrm>
            <a:off x="548640" y="1417320"/>
            <a:ext cx="2084832" cy="1234440"/>
          </a:xfrm>
          <a:prstGeom prst="roundRect">
            <a:avLst>
              <a:gd name="adj" fmla="val 5185"/>
            </a:avLst>
          </a:prstGeom>
          <a:solidFill>
            <a:srgbClr val="FFFFFF"/>
          </a:solidFill>
          <a:ln/>
          <a:effectLst>
            <a:outerShdw blurRad="101600" dist="38100" dir="5400000" algn="bl" rotWithShape="0">
              <a:srgbClr val="1E2761">
                <a:alpha val="10000"/>
              </a:srgbClr>
            </a:outerShdw>
          </a:effectLst>
        </p:spPr>
      </p:sp>
      <p:sp>
        <p:nvSpPr>
          <p:cNvPr id="5" name="Text 3"/>
          <p:cNvSpPr/>
          <p:nvPr/>
        </p:nvSpPr>
        <p:spPr>
          <a:xfrm>
            <a:off x="685800" y="1527048"/>
            <a:ext cx="1810512" cy="678942"/>
          </a:xfrm>
          <a:prstGeom prst="rect">
            <a:avLst/>
          </a:prstGeom>
          <a:noFill/>
          <a:ln/>
        </p:spPr>
        <p:txBody>
          <a:bodyPr wrap="square" lIns="0" tIns="0" rIns="0" bIns="0" rtlCol="0" anchor="b"/>
          <a:lstStyle/>
          <a:p>
            <a:pPr marL="0" indent="0" algn="l">
              <a:buNone/>
            </a:pPr>
            <a:r>
              <a:rPr lang="en-US" sz="2600" b="1" dirty="0">
                <a:solidFill>
                  <a:srgbClr val="1E2761"/>
                </a:solidFill>
                <a:latin typeface="Cambria" panose="02040503050406030204" pitchFamily="18" charset="0"/>
                <a:ea typeface="Cambria" panose="02040503050406030204" pitchFamily="18" charset="0"/>
                <a:cs typeface="Cambria" pitchFamily="34" charset="-120"/>
              </a:rPr>
              <a:t>$205M</a:t>
            </a:r>
            <a:endParaRPr lang="en-US" sz="2600" dirty="0">
              <a:latin typeface="Cambria" panose="02040503050406030204" pitchFamily="18" charset="0"/>
              <a:ea typeface="Cambria" panose="02040503050406030204" pitchFamily="18" charset="0"/>
            </a:endParaRPr>
          </a:p>
        </p:txBody>
      </p:sp>
      <p:sp>
        <p:nvSpPr>
          <p:cNvPr id="6" name="Text 4"/>
          <p:cNvSpPr/>
          <p:nvPr/>
        </p:nvSpPr>
        <p:spPr>
          <a:xfrm>
            <a:off x="685800" y="2157984"/>
            <a:ext cx="1810512" cy="432054"/>
          </a:xfrm>
          <a:prstGeom prst="rect">
            <a:avLst/>
          </a:prstGeom>
          <a:noFill/>
          <a:ln/>
        </p:spPr>
        <p:txBody>
          <a:bodyPr wrap="square" lIns="0" tIns="0" rIns="0" bIns="0" rtlCol="0" anchor="t"/>
          <a:lstStyle/>
          <a:p>
            <a:pPr marL="0" indent="0" algn="l">
              <a:buNone/>
            </a:pPr>
            <a:r>
              <a:rPr lang="en-US" sz="1100" dirty="0">
                <a:solidFill>
                  <a:srgbClr val="5B6472"/>
                </a:solidFill>
                <a:latin typeface="Cambria" panose="02040503050406030204" pitchFamily="18" charset="0"/>
                <a:ea typeface="Cambria" panose="02040503050406030204" pitchFamily="18" charset="0"/>
                <a:cs typeface="Calibri" pitchFamily="34" charset="-120"/>
              </a:rPr>
              <a:t>Total Transaction</a:t>
            </a:r>
            <a:endParaRPr lang="en-US" sz="1100" dirty="0">
              <a:latin typeface="Cambria" panose="02040503050406030204" pitchFamily="18" charset="0"/>
              <a:ea typeface="Cambria" panose="02040503050406030204" pitchFamily="18" charset="0"/>
            </a:endParaRPr>
          </a:p>
          <a:p>
            <a:pPr marL="0" indent="0" algn="l">
              <a:buNone/>
            </a:pPr>
            <a:r>
              <a:rPr lang="en-US" sz="1100" dirty="0">
                <a:solidFill>
                  <a:srgbClr val="5B6472"/>
                </a:solidFill>
                <a:latin typeface="Cambria" panose="02040503050406030204" pitchFamily="18" charset="0"/>
                <a:ea typeface="Cambria" panose="02040503050406030204" pitchFamily="18" charset="0"/>
                <a:cs typeface="Calibri" pitchFamily="34" charset="-120"/>
              </a:rPr>
              <a:t>Amount</a:t>
            </a:r>
            <a:endParaRPr lang="en-US" sz="1100" dirty="0">
              <a:latin typeface="Cambria" panose="02040503050406030204" pitchFamily="18" charset="0"/>
              <a:ea typeface="Cambria" panose="02040503050406030204" pitchFamily="18" charset="0"/>
            </a:endParaRPr>
          </a:p>
        </p:txBody>
      </p:sp>
      <p:sp>
        <p:nvSpPr>
          <p:cNvPr id="7" name="Shape 5"/>
          <p:cNvSpPr/>
          <p:nvPr/>
        </p:nvSpPr>
        <p:spPr>
          <a:xfrm>
            <a:off x="2798064" y="1417320"/>
            <a:ext cx="2084832" cy="1234440"/>
          </a:xfrm>
          <a:prstGeom prst="roundRect">
            <a:avLst>
              <a:gd name="adj" fmla="val 5185"/>
            </a:avLst>
          </a:prstGeom>
          <a:solidFill>
            <a:srgbClr val="FFFFFF"/>
          </a:solidFill>
          <a:ln/>
          <a:effectLst>
            <a:outerShdw blurRad="101600" dist="38100" dir="5400000" algn="bl" rotWithShape="0">
              <a:srgbClr val="1E2761">
                <a:alpha val="10000"/>
              </a:srgbClr>
            </a:outerShdw>
          </a:effectLst>
        </p:spPr>
      </p:sp>
      <p:sp>
        <p:nvSpPr>
          <p:cNvPr id="8" name="Text 6"/>
          <p:cNvSpPr/>
          <p:nvPr/>
        </p:nvSpPr>
        <p:spPr>
          <a:xfrm>
            <a:off x="2935224" y="1527048"/>
            <a:ext cx="1810512" cy="678942"/>
          </a:xfrm>
          <a:prstGeom prst="rect">
            <a:avLst/>
          </a:prstGeom>
          <a:noFill/>
          <a:ln/>
        </p:spPr>
        <p:txBody>
          <a:bodyPr wrap="square" lIns="0" tIns="0" rIns="0" bIns="0" rtlCol="0" anchor="b"/>
          <a:lstStyle/>
          <a:p>
            <a:pPr marL="0" indent="0" algn="l">
              <a:buNone/>
            </a:pPr>
            <a:r>
              <a:rPr lang="en-US" sz="2600" b="1" dirty="0">
                <a:solidFill>
                  <a:srgbClr val="1E2761"/>
                </a:solidFill>
                <a:latin typeface="Cambria" panose="02040503050406030204" pitchFamily="18" charset="0"/>
                <a:ea typeface="Cambria" panose="02040503050406030204" pitchFamily="18" charset="0"/>
                <a:cs typeface="Cambria" pitchFamily="34" charset="-120"/>
              </a:rPr>
              <a:t>$13M</a:t>
            </a:r>
            <a:endParaRPr lang="en-US" sz="2600" dirty="0">
              <a:latin typeface="Cambria" panose="02040503050406030204" pitchFamily="18" charset="0"/>
              <a:ea typeface="Cambria" panose="02040503050406030204" pitchFamily="18" charset="0"/>
            </a:endParaRPr>
          </a:p>
        </p:txBody>
      </p:sp>
      <p:sp>
        <p:nvSpPr>
          <p:cNvPr id="9" name="Text 7"/>
          <p:cNvSpPr/>
          <p:nvPr/>
        </p:nvSpPr>
        <p:spPr>
          <a:xfrm>
            <a:off x="2935224" y="2157984"/>
            <a:ext cx="1810512" cy="432054"/>
          </a:xfrm>
          <a:prstGeom prst="rect">
            <a:avLst/>
          </a:prstGeom>
          <a:noFill/>
          <a:ln/>
        </p:spPr>
        <p:txBody>
          <a:bodyPr wrap="square" lIns="0" tIns="0" rIns="0" bIns="0" rtlCol="0" anchor="t"/>
          <a:lstStyle/>
          <a:p>
            <a:pPr marL="0" indent="0" algn="l">
              <a:buNone/>
            </a:pPr>
            <a:r>
              <a:rPr lang="en-US" sz="1100" dirty="0">
                <a:solidFill>
                  <a:srgbClr val="5B6472"/>
                </a:solidFill>
                <a:latin typeface="Cambria" panose="02040503050406030204" pitchFamily="18" charset="0"/>
                <a:ea typeface="Cambria" panose="02040503050406030204" pitchFamily="18" charset="0"/>
                <a:cs typeface="Calibri" pitchFamily="34" charset="-120"/>
              </a:rPr>
              <a:t>Total Fraud</a:t>
            </a:r>
            <a:endParaRPr lang="en-US" sz="1100" dirty="0">
              <a:latin typeface="Cambria" panose="02040503050406030204" pitchFamily="18" charset="0"/>
              <a:ea typeface="Cambria" panose="02040503050406030204" pitchFamily="18" charset="0"/>
            </a:endParaRPr>
          </a:p>
          <a:p>
            <a:pPr marL="0" indent="0" algn="l">
              <a:buNone/>
            </a:pPr>
            <a:r>
              <a:rPr lang="en-US" sz="1100" dirty="0">
                <a:solidFill>
                  <a:srgbClr val="5B6472"/>
                </a:solidFill>
                <a:latin typeface="Cambria" panose="02040503050406030204" pitchFamily="18" charset="0"/>
                <a:ea typeface="Cambria" panose="02040503050406030204" pitchFamily="18" charset="0"/>
                <a:cs typeface="Calibri" pitchFamily="34" charset="-120"/>
              </a:rPr>
              <a:t>Transaction Value</a:t>
            </a:r>
            <a:endParaRPr lang="en-US" sz="1100" dirty="0">
              <a:latin typeface="Cambria" panose="02040503050406030204" pitchFamily="18" charset="0"/>
              <a:ea typeface="Cambria" panose="02040503050406030204" pitchFamily="18" charset="0"/>
            </a:endParaRPr>
          </a:p>
        </p:txBody>
      </p:sp>
      <p:sp>
        <p:nvSpPr>
          <p:cNvPr id="10" name="Shape 8"/>
          <p:cNvSpPr/>
          <p:nvPr/>
        </p:nvSpPr>
        <p:spPr>
          <a:xfrm>
            <a:off x="5047488" y="1417320"/>
            <a:ext cx="2084832" cy="1234440"/>
          </a:xfrm>
          <a:prstGeom prst="roundRect">
            <a:avLst>
              <a:gd name="adj" fmla="val 5185"/>
            </a:avLst>
          </a:prstGeom>
          <a:solidFill>
            <a:srgbClr val="FFFFFF"/>
          </a:solidFill>
          <a:ln/>
          <a:effectLst>
            <a:outerShdw blurRad="101600" dist="38100" dir="5400000" algn="bl" rotWithShape="0">
              <a:srgbClr val="1E2761">
                <a:alpha val="10000"/>
              </a:srgbClr>
            </a:outerShdw>
          </a:effectLst>
        </p:spPr>
      </p:sp>
      <p:sp>
        <p:nvSpPr>
          <p:cNvPr id="11" name="Text 9"/>
          <p:cNvSpPr/>
          <p:nvPr/>
        </p:nvSpPr>
        <p:spPr>
          <a:xfrm>
            <a:off x="5184648" y="1527048"/>
            <a:ext cx="1810512" cy="678942"/>
          </a:xfrm>
          <a:prstGeom prst="rect">
            <a:avLst/>
          </a:prstGeom>
          <a:noFill/>
          <a:ln/>
        </p:spPr>
        <p:txBody>
          <a:bodyPr wrap="square" lIns="0" tIns="0" rIns="0" bIns="0" rtlCol="0" anchor="b"/>
          <a:lstStyle/>
          <a:p>
            <a:pPr marL="0" indent="0" algn="l">
              <a:buNone/>
            </a:pPr>
            <a:r>
              <a:rPr lang="en-US" sz="2600" b="1" dirty="0">
                <a:solidFill>
                  <a:srgbClr val="1E2761"/>
                </a:solidFill>
                <a:latin typeface="Cambria" panose="02040503050406030204" pitchFamily="18" charset="0"/>
                <a:ea typeface="Cambria" panose="02040503050406030204" pitchFamily="18" charset="0"/>
                <a:cs typeface="Cambria" pitchFamily="34" charset="-120"/>
              </a:rPr>
              <a:t>$17bn</a:t>
            </a:r>
            <a:endParaRPr lang="en-US" sz="2600" dirty="0">
              <a:latin typeface="Cambria" panose="02040503050406030204" pitchFamily="18" charset="0"/>
              <a:ea typeface="Cambria" panose="02040503050406030204" pitchFamily="18" charset="0"/>
            </a:endParaRPr>
          </a:p>
        </p:txBody>
      </p:sp>
      <p:sp>
        <p:nvSpPr>
          <p:cNvPr id="12" name="Text 10"/>
          <p:cNvSpPr/>
          <p:nvPr/>
        </p:nvSpPr>
        <p:spPr>
          <a:xfrm>
            <a:off x="5184648" y="2157984"/>
            <a:ext cx="1810512" cy="432054"/>
          </a:xfrm>
          <a:prstGeom prst="rect">
            <a:avLst/>
          </a:prstGeom>
          <a:noFill/>
          <a:ln/>
        </p:spPr>
        <p:txBody>
          <a:bodyPr wrap="square" lIns="0" tIns="0" rIns="0" bIns="0" rtlCol="0" anchor="t"/>
          <a:lstStyle/>
          <a:p>
            <a:pPr marL="0" indent="0" algn="l">
              <a:buNone/>
            </a:pPr>
            <a:r>
              <a:rPr lang="en-US" sz="1100" dirty="0">
                <a:solidFill>
                  <a:srgbClr val="5B6472"/>
                </a:solidFill>
                <a:latin typeface="Cambria" panose="02040503050406030204" pitchFamily="18" charset="0"/>
                <a:ea typeface="Cambria" panose="02040503050406030204" pitchFamily="18" charset="0"/>
                <a:cs typeface="Calibri" pitchFamily="34" charset="-120"/>
              </a:rPr>
              <a:t>Total Account</a:t>
            </a:r>
            <a:endParaRPr lang="en-US" sz="1100" dirty="0">
              <a:latin typeface="Cambria" panose="02040503050406030204" pitchFamily="18" charset="0"/>
              <a:ea typeface="Cambria" panose="02040503050406030204" pitchFamily="18" charset="0"/>
            </a:endParaRPr>
          </a:p>
          <a:p>
            <a:pPr marL="0" indent="0" algn="l">
              <a:buNone/>
            </a:pPr>
            <a:r>
              <a:rPr lang="en-US" sz="1100" dirty="0">
                <a:solidFill>
                  <a:srgbClr val="5B6472"/>
                </a:solidFill>
                <a:latin typeface="Cambria" panose="02040503050406030204" pitchFamily="18" charset="0"/>
                <a:ea typeface="Cambria" panose="02040503050406030204" pitchFamily="18" charset="0"/>
                <a:cs typeface="Calibri" pitchFamily="34" charset="-120"/>
              </a:rPr>
              <a:t>Balance</a:t>
            </a:r>
            <a:endParaRPr lang="en-US" sz="1100" dirty="0">
              <a:latin typeface="Cambria" panose="02040503050406030204" pitchFamily="18" charset="0"/>
              <a:ea typeface="Cambria" panose="02040503050406030204" pitchFamily="18" charset="0"/>
            </a:endParaRPr>
          </a:p>
        </p:txBody>
      </p:sp>
      <p:sp>
        <p:nvSpPr>
          <p:cNvPr id="13" name="Shape 11"/>
          <p:cNvSpPr/>
          <p:nvPr/>
        </p:nvSpPr>
        <p:spPr>
          <a:xfrm>
            <a:off x="7296912" y="1417320"/>
            <a:ext cx="2084832" cy="1234440"/>
          </a:xfrm>
          <a:prstGeom prst="roundRect">
            <a:avLst>
              <a:gd name="adj" fmla="val 5185"/>
            </a:avLst>
          </a:prstGeom>
          <a:solidFill>
            <a:srgbClr val="FFFFFF"/>
          </a:solidFill>
          <a:ln/>
          <a:effectLst>
            <a:outerShdw blurRad="101600" dist="38100" dir="5400000" algn="bl" rotWithShape="0">
              <a:srgbClr val="1E2761">
                <a:alpha val="10000"/>
              </a:srgbClr>
            </a:outerShdw>
          </a:effectLst>
        </p:spPr>
      </p:sp>
      <p:sp>
        <p:nvSpPr>
          <p:cNvPr id="14" name="Text 12"/>
          <p:cNvSpPr/>
          <p:nvPr/>
        </p:nvSpPr>
        <p:spPr>
          <a:xfrm>
            <a:off x="7434072" y="1527048"/>
            <a:ext cx="1810512" cy="678942"/>
          </a:xfrm>
          <a:prstGeom prst="rect">
            <a:avLst/>
          </a:prstGeom>
          <a:noFill/>
          <a:ln/>
        </p:spPr>
        <p:txBody>
          <a:bodyPr wrap="square" lIns="0" tIns="0" rIns="0" bIns="0" rtlCol="0" anchor="b"/>
          <a:lstStyle/>
          <a:p>
            <a:pPr marL="0" indent="0" algn="l">
              <a:buNone/>
            </a:pPr>
            <a:r>
              <a:rPr lang="en-US" sz="2600" b="1" dirty="0">
                <a:solidFill>
                  <a:srgbClr val="1E2761"/>
                </a:solidFill>
                <a:latin typeface="Cambria" panose="02040503050406030204" pitchFamily="18" charset="0"/>
                <a:ea typeface="Cambria" panose="02040503050406030204" pitchFamily="18" charset="0"/>
                <a:cs typeface="Cambria" pitchFamily="34" charset="-120"/>
              </a:rPr>
              <a:t>55K</a:t>
            </a:r>
            <a:endParaRPr lang="en-US" sz="2600" dirty="0">
              <a:latin typeface="Cambria" panose="02040503050406030204" pitchFamily="18" charset="0"/>
              <a:ea typeface="Cambria" panose="02040503050406030204" pitchFamily="18" charset="0"/>
            </a:endParaRPr>
          </a:p>
        </p:txBody>
      </p:sp>
      <p:sp>
        <p:nvSpPr>
          <p:cNvPr id="15" name="Text 13"/>
          <p:cNvSpPr/>
          <p:nvPr/>
        </p:nvSpPr>
        <p:spPr>
          <a:xfrm>
            <a:off x="7434072" y="2157984"/>
            <a:ext cx="1810512" cy="432054"/>
          </a:xfrm>
          <a:prstGeom prst="rect">
            <a:avLst/>
          </a:prstGeom>
          <a:noFill/>
          <a:ln/>
        </p:spPr>
        <p:txBody>
          <a:bodyPr wrap="square" lIns="0" tIns="0" rIns="0" bIns="0" rtlCol="0" anchor="t"/>
          <a:lstStyle/>
          <a:p>
            <a:pPr marL="0" indent="0" algn="l">
              <a:buNone/>
            </a:pPr>
            <a:r>
              <a:rPr lang="en-US" sz="1100" dirty="0">
                <a:solidFill>
                  <a:srgbClr val="5B6472"/>
                </a:solidFill>
                <a:latin typeface="Cambria" panose="02040503050406030204" pitchFamily="18" charset="0"/>
                <a:ea typeface="Cambria" panose="02040503050406030204" pitchFamily="18" charset="0"/>
                <a:cs typeface="Calibri" pitchFamily="34" charset="-120"/>
              </a:rPr>
              <a:t>Fraud Cases</a:t>
            </a:r>
            <a:endParaRPr lang="en-US" sz="1100" dirty="0">
              <a:latin typeface="Cambria" panose="02040503050406030204" pitchFamily="18" charset="0"/>
              <a:ea typeface="Cambria" panose="02040503050406030204" pitchFamily="18" charset="0"/>
            </a:endParaRPr>
          </a:p>
          <a:p>
            <a:pPr marL="0" indent="0" algn="l">
              <a:buNone/>
            </a:pPr>
            <a:r>
              <a:rPr lang="en-US" sz="1100" dirty="0">
                <a:solidFill>
                  <a:srgbClr val="5B6472"/>
                </a:solidFill>
                <a:latin typeface="Cambria" panose="02040503050406030204" pitchFamily="18" charset="0"/>
                <a:ea typeface="Cambria" panose="02040503050406030204" pitchFamily="18" charset="0"/>
                <a:cs typeface="Calibri" pitchFamily="34" charset="-120"/>
              </a:rPr>
              <a:t>Identified</a:t>
            </a:r>
            <a:endParaRPr lang="en-US" sz="1100" dirty="0">
              <a:latin typeface="Cambria" panose="02040503050406030204" pitchFamily="18" charset="0"/>
              <a:ea typeface="Cambria" panose="02040503050406030204" pitchFamily="18" charset="0"/>
            </a:endParaRPr>
          </a:p>
        </p:txBody>
      </p:sp>
      <p:sp>
        <p:nvSpPr>
          <p:cNvPr id="16" name="Shape 14"/>
          <p:cNvSpPr/>
          <p:nvPr/>
        </p:nvSpPr>
        <p:spPr>
          <a:xfrm>
            <a:off x="9546336" y="1417320"/>
            <a:ext cx="2084832" cy="1234440"/>
          </a:xfrm>
          <a:prstGeom prst="roundRect">
            <a:avLst>
              <a:gd name="adj" fmla="val 5185"/>
            </a:avLst>
          </a:prstGeom>
          <a:solidFill>
            <a:srgbClr val="FFFFFF"/>
          </a:solidFill>
          <a:ln/>
          <a:effectLst>
            <a:outerShdw blurRad="101600" dist="38100" dir="5400000" algn="bl" rotWithShape="0">
              <a:srgbClr val="1E2761">
                <a:alpha val="10000"/>
              </a:srgbClr>
            </a:outerShdw>
          </a:effectLst>
        </p:spPr>
      </p:sp>
      <p:sp>
        <p:nvSpPr>
          <p:cNvPr id="17" name="Text 15"/>
          <p:cNvSpPr/>
          <p:nvPr/>
        </p:nvSpPr>
        <p:spPr>
          <a:xfrm>
            <a:off x="9683496" y="1527048"/>
            <a:ext cx="1810512" cy="678942"/>
          </a:xfrm>
          <a:prstGeom prst="rect">
            <a:avLst/>
          </a:prstGeom>
          <a:noFill/>
          <a:ln/>
        </p:spPr>
        <p:txBody>
          <a:bodyPr wrap="square" lIns="0" tIns="0" rIns="0" bIns="0" rtlCol="0" anchor="b"/>
          <a:lstStyle/>
          <a:p>
            <a:pPr marL="0" indent="0" algn="l">
              <a:buNone/>
            </a:pPr>
            <a:r>
              <a:rPr lang="en-US" sz="2600" b="1" dirty="0">
                <a:solidFill>
                  <a:srgbClr val="B3261E"/>
                </a:solidFill>
                <a:latin typeface="Cambria" panose="02040503050406030204" pitchFamily="18" charset="0"/>
                <a:ea typeface="Cambria" panose="02040503050406030204" pitchFamily="18" charset="0"/>
                <a:cs typeface="Cambria" pitchFamily="34" charset="-120"/>
              </a:rPr>
              <a:t>6.0%</a:t>
            </a:r>
            <a:endParaRPr lang="en-US" sz="2600" dirty="0">
              <a:latin typeface="Cambria" panose="02040503050406030204" pitchFamily="18" charset="0"/>
              <a:ea typeface="Cambria" panose="02040503050406030204" pitchFamily="18" charset="0"/>
            </a:endParaRPr>
          </a:p>
        </p:txBody>
      </p:sp>
      <p:sp>
        <p:nvSpPr>
          <p:cNvPr id="18" name="Text 16"/>
          <p:cNvSpPr/>
          <p:nvPr/>
        </p:nvSpPr>
        <p:spPr>
          <a:xfrm>
            <a:off x="9683496" y="2157984"/>
            <a:ext cx="1810512" cy="432054"/>
          </a:xfrm>
          <a:prstGeom prst="rect">
            <a:avLst/>
          </a:prstGeom>
          <a:noFill/>
          <a:ln/>
        </p:spPr>
        <p:txBody>
          <a:bodyPr wrap="square" lIns="0" tIns="0" rIns="0" bIns="0" rtlCol="0" anchor="t"/>
          <a:lstStyle/>
          <a:p>
            <a:pPr marL="0" indent="0" algn="l">
              <a:buNone/>
            </a:pPr>
            <a:r>
              <a:rPr lang="en-US" sz="1100" dirty="0">
                <a:solidFill>
                  <a:srgbClr val="5B6472"/>
                </a:solidFill>
                <a:latin typeface="Cambria" panose="02040503050406030204" pitchFamily="18" charset="0"/>
                <a:ea typeface="Cambria" panose="02040503050406030204" pitchFamily="18" charset="0"/>
                <a:cs typeface="Calibri" pitchFamily="34" charset="-120"/>
              </a:rPr>
              <a:t>Overall Fraud</a:t>
            </a:r>
            <a:endParaRPr lang="en-US" sz="1100" dirty="0">
              <a:latin typeface="Cambria" panose="02040503050406030204" pitchFamily="18" charset="0"/>
              <a:ea typeface="Cambria" panose="02040503050406030204" pitchFamily="18" charset="0"/>
            </a:endParaRPr>
          </a:p>
          <a:p>
            <a:pPr marL="0" indent="0" algn="l">
              <a:buNone/>
            </a:pPr>
            <a:r>
              <a:rPr lang="en-US" sz="1100" dirty="0">
                <a:solidFill>
                  <a:srgbClr val="5B6472"/>
                </a:solidFill>
                <a:latin typeface="Cambria" panose="02040503050406030204" pitchFamily="18" charset="0"/>
                <a:ea typeface="Cambria" panose="02040503050406030204" pitchFamily="18" charset="0"/>
                <a:cs typeface="Calibri" pitchFamily="34" charset="-120"/>
              </a:rPr>
              <a:t>Rate</a:t>
            </a:r>
            <a:endParaRPr lang="en-US" sz="1100" dirty="0">
              <a:latin typeface="Cambria" panose="02040503050406030204" pitchFamily="18" charset="0"/>
              <a:ea typeface="Cambria" panose="02040503050406030204" pitchFamily="18" charset="0"/>
            </a:endParaRPr>
          </a:p>
        </p:txBody>
      </p:sp>
      <p:sp>
        <p:nvSpPr>
          <p:cNvPr id="19" name="Shape 17"/>
          <p:cNvSpPr/>
          <p:nvPr/>
        </p:nvSpPr>
        <p:spPr>
          <a:xfrm>
            <a:off x="548639" y="2862072"/>
            <a:ext cx="11185855" cy="3502152"/>
          </a:xfrm>
          <a:prstGeom prst="roundRect">
            <a:avLst>
              <a:gd name="adj" fmla="val 1690"/>
            </a:avLst>
          </a:prstGeom>
          <a:solidFill>
            <a:srgbClr val="F3F6FC"/>
          </a:solidFill>
          <a:ln/>
        </p:spPr>
      </p:sp>
      <p:sp>
        <p:nvSpPr>
          <p:cNvPr id="20" name="Shape 18"/>
          <p:cNvSpPr/>
          <p:nvPr/>
        </p:nvSpPr>
        <p:spPr>
          <a:xfrm>
            <a:off x="868680" y="3291840"/>
            <a:ext cx="502920" cy="502920"/>
          </a:xfrm>
          <a:prstGeom prst="ellipse">
            <a:avLst/>
          </a:prstGeom>
          <a:solidFill>
            <a:srgbClr val="CADCFC"/>
          </a:solidFill>
          <a:ln/>
        </p:spPr>
      </p:sp>
      <p:pic>
        <p:nvPicPr>
          <p:cNvPr id="21" name="Image 0" descr="icons/bulb_navy.png"/>
          <p:cNvPicPr>
            <a:picLocks noChangeAspect="1"/>
          </p:cNvPicPr>
          <p:nvPr/>
        </p:nvPicPr>
        <p:blipFill>
          <a:blip r:embed="rId3"/>
          <a:stretch>
            <a:fillRect/>
          </a:stretch>
        </p:blipFill>
        <p:spPr>
          <a:xfrm>
            <a:off x="934060" y="3357220"/>
            <a:ext cx="372161" cy="372161"/>
          </a:xfrm>
          <a:prstGeom prst="rect">
            <a:avLst/>
          </a:prstGeom>
        </p:spPr>
      </p:pic>
      <p:sp>
        <p:nvSpPr>
          <p:cNvPr id="22" name="Text 19"/>
          <p:cNvSpPr/>
          <p:nvPr/>
        </p:nvSpPr>
        <p:spPr>
          <a:xfrm>
            <a:off x="1554480" y="3310128"/>
            <a:ext cx="7315200" cy="457200"/>
          </a:xfrm>
          <a:prstGeom prst="rect">
            <a:avLst/>
          </a:prstGeom>
          <a:noFill/>
          <a:ln/>
        </p:spPr>
        <p:txBody>
          <a:bodyPr wrap="square" rtlCol="0" anchor="ctr"/>
          <a:lstStyle/>
          <a:p>
            <a:pPr marL="0" indent="0">
              <a:buNone/>
            </a:pPr>
            <a:r>
              <a:rPr lang="en-US" sz="1600" b="1" dirty="0">
                <a:solidFill>
                  <a:srgbClr val="1E2761"/>
                </a:solidFill>
                <a:latin typeface="Cambria" panose="02040503050406030204" pitchFamily="18" charset="0"/>
                <a:ea typeface="Cambria" panose="02040503050406030204" pitchFamily="18" charset="0"/>
                <a:cs typeface="Cambria" pitchFamily="34" charset="-120"/>
              </a:rPr>
              <a:t>What the data tells us</a:t>
            </a:r>
            <a:endParaRPr lang="en-US" sz="1600" dirty="0">
              <a:latin typeface="Cambria" panose="02040503050406030204" pitchFamily="18" charset="0"/>
              <a:ea typeface="Cambria" panose="02040503050406030204" pitchFamily="18" charset="0"/>
            </a:endParaRPr>
          </a:p>
        </p:txBody>
      </p:sp>
      <p:sp>
        <p:nvSpPr>
          <p:cNvPr id="23" name="Text 20"/>
          <p:cNvSpPr/>
          <p:nvPr/>
        </p:nvSpPr>
        <p:spPr>
          <a:xfrm>
            <a:off x="914400" y="3840480"/>
            <a:ext cx="10332720" cy="2286000"/>
          </a:xfrm>
          <a:prstGeom prst="rect">
            <a:avLst/>
          </a:prstGeom>
          <a:noFill/>
          <a:ln/>
        </p:spPr>
        <p:txBody>
          <a:bodyPr wrap="square" rtlCol="0" anchor="t"/>
          <a:lstStyle/>
          <a:p>
            <a:pPr marL="342900" indent="-342900">
              <a:spcAft>
                <a:spcPts val="1000"/>
              </a:spcAft>
              <a:buSzPct val="100000"/>
              <a:buChar char="•"/>
            </a:pPr>
            <a:r>
              <a:rPr lang="en-US" sz="1350" dirty="0">
                <a:solidFill>
                  <a:srgbClr val="2B2F3A"/>
                </a:solidFill>
                <a:latin typeface="Cambria" panose="02040503050406030204" pitchFamily="18" charset="0"/>
                <a:ea typeface="Cambria" panose="02040503050406030204" pitchFamily="18" charset="0"/>
                <a:cs typeface="Calibri" pitchFamily="34" charset="-120"/>
              </a:rPr>
              <a:t>Fraud runs at a stable 6% of transactions (55K of 1,000,000 reviewed) not a small-scale problem, and not obviously trending down over five years.</a:t>
            </a:r>
            <a:endParaRPr lang="en-US" sz="1350" dirty="0">
              <a:latin typeface="Cambria" panose="02040503050406030204" pitchFamily="18" charset="0"/>
              <a:ea typeface="Cambria" panose="02040503050406030204" pitchFamily="18" charset="0"/>
            </a:endParaRPr>
          </a:p>
          <a:p>
            <a:pPr marL="342900" indent="-342900">
              <a:spcAft>
                <a:spcPts val="1000"/>
              </a:spcAft>
              <a:buSzPct val="100000"/>
              <a:buChar char="•"/>
            </a:pPr>
            <a:r>
              <a:rPr lang="en-US" sz="1350" dirty="0">
                <a:solidFill>
                  <a:srgbClr val="2B2F3A"/>
                </a:solidFill>
                <a:latin typeface="Cambria" panose="02040503050406030204" pitchFamily="18" charset="0"/>
                <a:ea typeface="Cambria" panose="02040503050406030204" pitchFamily="18" charset="0"/>
                <a:cs typeface="Calibri" pitchFamily="34" charset="-120"/>
              </a:rPr>
              <a:t>Static attributes country, device, payment method barely move the needle (all clustered 0.05–0.06). They are weak predictors on their own.</a:t>
            </a:r>
            <a:endParaRPr lang="en-US" sz="1350" dirty="0">
              <a:latin typeface="Cambria" panose="02040503050406030204" pitchFamily="18" charset="0"/>
              <a:ea typeface="Cambria" panose="02040503050406030204" pitchFamily="18" charset="0"/>
            </a:endParaRPr>
          </a:p>
          <a:p>
            <a:pPr marL="342900" indent="-342900">
              <a:spcAft>
                <a:spcPts val="1000"/>
              </a:spcAft>
              <a:buSzPct val="100000"/>
              <a:buChar char="•"/>
            </a:pPr>
            <a:r>
              <a:rPr lang="en-US" sz="1350" dirty="0">
                <a:solidFill>
                  <a:srgbClr val="2B2F3A"/>
                </a:solidFill>
                <a:latin typeface="Cambria" panose="02040503050406030204" pitchFamily="18" charset="0"/>
                <a:ea typeface="Cambria" panose="02040503050406030204" pitchFamily="18" charset="0"/>
                <a:cs typeface="Calibri" pitchFamily="34" charset="-120"/>
              </a:rPr>
              <a:t>Merchant category is the sharpest structural signal: ATM withdrawals, jewelry, and crypto-exchange purchases run 9% fraud, nearly double the baseline.</a:t>
            </a:r>
            <a:endParaRPr lang="en-US" sz="1350" dirty="0">
              <a:latin typeface="Cambria" panose="02040503050406030204" pitchFamily="18" charset="0"/>
              <a:ea typeface="Cambria" panose="02040503050406030204" pitchFamily="18" charset="0"/>
            </a:endParaRPr>
          </a:p>
          <a:p>
            <a:pPr marL="342900" indent="-342900">
              <a:spcAft>
                <a:spcPts val="1000"/>
              </a:spcAft>
              <a:buSzPct val="100000"/>
              <a:buChar char="•"/>
            </a:pPr>
            <a:r>
              <a:rPr lang="en-US" sz="1350" dirty="0">
                <a:solidFill>
                  <a:srgbClr val="2B2F3A"/>
                </a:solidFill>
                <a:latin typeface="Cambria" panose="02040503050406030204" pitchFamily="18" charset="0"/>
                <a:ea typeface="Cambria" panose="02040503050406030204" pitchFamily="18" charset="0"/>
                <a:cs typeface="Calibri" pitchFamily="34" charset="-120"/>
              </a:rPr>
              <a:t>The strongest predictors are behavioral, not demographic: repeated failed attempts, a recent PIN change, an international flag, and overnight timing each roughly double to triple the fraud rate.</a:t>
            </a:r>
            <a:endParaRPr lang="en-US" sz="1350" dirty="0">
              <a:latin typeface="Cambria" panose="02040503050406030204" pitchFamily="18" charset="0"/>
              <a:ea typeface="Cambria" panose="02040503050406030204" pitchFamily="18" charset="0"/>
            </a:endParaRPr>
          </a:p>
          <a:p>
            <a:pPr marL="342900" indent="-342900">
              <a:spcAft>
                <a:spcPts val="1000"/>
              </a:spcAft>
              <a:buSzPct val="100000"/>
              <a:buChar char="•"/>
            </a:pPr>
            <a:r>
              <a:rPr lang="en-US" sz="1350" dirty="0">
                <a:solidFill>
                  <a:srgbClr val="2B2F3A"/>
                </a:solidFill>
                <a:latin typeface="Cambria" panose="02040503050406030204" pitchFamily="18" charset="0"/>
                <a:ea typeface="Cambria" panose="02040503050406030204" pitchFamily="18" charset="0"/>
                <a:cs typeface="Calibri" pitchFamily="34" charset="-120"/>
              </a:rPr>
              <a:t>Combining these behavioral flags should be the priority lens for real-time scoring and step-up authentication going forward.</a:t>
            </a:r>
            <a:endParaRPr lang="en-US" sz="1350" dirty="0">
              <a:latin typeface="Cambria" panose="02040503050406030204" pitchFamily="18" charset="0"/>
              <a:ea typeface="Cambria" panose="02040503050406030204" pitchFamily="18" charset="0"/>
            </a:endParaRPr>
          </a:p>
        </p:txBody>
      </p:sp>
      <p:sp>
        <p:nvSpPr>
          <p:cNvPr id="24" name="Text 21"/>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Bank Fraud Detection Analysis — Executive Report</a:t>
            </a:r>
            <a:endParaRPr lang="en-US" sz="900" dirty="0">
              <a:latin typeface="Cambria" panose="02040503050406030204" pitchFamily="18" charset="0"/>
              <a:ea typeface="Cambria" panose="02040503050406030204" pitchFamily="18" charset="0"/>
            </a:endParaRPr>
          </a:p>
        </p:txBody>
      </p:sp>
      <p:sp>
        <p:nvSpPr>
          <p:cNvPr id="25" name="Text 22"/>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B3261E"/>
                </a:solidFill>
                <a:latin typeface="Cambria" panose="02040503050406030204" pitchFamily="18" charset="0"/>
                <a:ea typeface="Cambria" panose="02040503050406030204" pitchFamily="18" charset="0"/>
                <a:cs typeface="Calibri" pitchFamily="34" charset="-120"/>
              </a:rPr>
              <a:t>TREND ANALYSIS</a:t>
            </a:r>
            <a:endParaRPr lang="en-US" sz="1200" dirty="0">
              <a:latin typeface="Cambria" panose="02040503050406030204" pitchFamily="18" charset="0"/>
              <a:ea typeface="Cambria" panose="02040503050406030204" pitchFamily="18" charset="0"/>
            </a:endParaRPr>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2800" b="1" dirty="0">
                <a:solidFill>
                  <a:srgbClr val="1E2761"/>
                </a:solidFill>
                <a:latin typeface="Cambria" panose="02040503050406030204" pitchFamily="18" charset="0"/>
                <a:ea typeface="Cambria" panose="02040503050406030204" pitchFamily="18" charset="0"/>
                <a:cs typeface="Cambria" pitchFamily="34" charset="-120"/>
              </a:rPr>
              <a:t>Fraud Case Volume, 2020–2024</a:t>
            </a:r>
            <a:endParaRPr lang="en-US" sz="2800" dirty="0">
              <a:latin typeface="Cambria" panose="02040503050406030204" pitchFamily="18" charset="0"/>
              <a:ea typeface="Cambria" panose="02040503050406030204" pitchFamily="18" charset="0"/>
            </a:endParaRPr>
          </a:p>
        </p:txBody>
      </p:sp>
      <p:graphicFrame>
        <p:nvGraphicFramePr>
          <p:cNvPr id="4" name="Chart 0"/>
          <p:cNvGraphicFramePr/>
          <p:nvPr>
            <p:extLst>
              <p:ext uri="{D42A27DB-BD31-4B8C-83A1-F6EECF244321}">
                <p14:modId xmlns:p14="http://schemas.microsoft.com/office/powerpoint/2010/main" val="2743229134"/>
              </p:ext>
            </p:extLst>
          </p:nvPr>
        </p:nvGraphicFramePr>
        <p:xfrm>
          <a:off x="548640" y="1417320"/>
          <a:ext cx="713232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940040" y="1417319"/>
            <a:ext cx="3592597" cy="4694231"/>
          </a:xfrm>
          <a:prstGeom prst="roundRect">
            <a:avLst>
              <a:gd name="adj" fmla="val 1481"/>
            </a:avLst>
          </a:prstGeom>
          <a:solidFill>
            <a:srgbClr val="F3F6FC"/>
          </a:solidFill>
          <a:ln/>
        </p:spPr>
      </p:sp>
      <p:sp>
        <p:nvSpPr>
          <p:cNvPr id="6" name="Text 3"/>
          <p:cNvSpPr/>
          <p:nvPr/>
        </p:nvSpPr>
        <p:spPr>
          <a:xfrm>
            <a:off x="8183880" y="1627632"/>
            <a:ext cx="3200400" cy="365760"/>
          </a:xfrm>
          <a:prstGeom prst="rect">
            <a:avLst/>
          </a:prstGeom>
          <a:noFill/>
          <a:ln/>
        </p:spPr>
        <p:txBody>
          <a:bodyPr wrap="square" rtlCol="0" anchor="ctr"/>
          <a:lstStyle/>
          <a:p>
            <a:pPr marL="0" indent="0">
              <a:buNone/>
            </a:pPr>
            <a:r>
              <a:rPr lang="en-US" sz="1500" b="1" dirty="0">
                <a:solidFill>
                  <a:srgbClr val="1E2761"/>
                </a:solidFill>
                <a:latin typeface="Cambria" panose="02040503050406030204" pitchFamily="18" charset="0"/>
                <a:ea typeface="Cambria" panose="02040503050406030204" pitchFamily="18" charset="0"/>
                <a:cs typeface="Cambria" pitchFamily="34" charset="-120"/>
              </a:rPr>
              <a:t>Reading the trend</a:t>
            </a:r>
            <a:endParaRPr lang="en-US" sz="1500" dirty="0">
              <a:latin typeface="Cambria" panose="02040503050406030204" pitchFamily="18" charset="0"/>
              <a:ea typeface="Cambria" panose="02040503050406030204" pitchFamily="18" charset="0"/>
            </a:endParaRPr>
          </a:p>
        </p:txBody>
      </p:sp>
      <p:sp>
        <p:nvSpPr>
          <p:cNvPr id="7" name="Text 4"/>
          <p:cNvSpPr/>
          <p:nvPr/>
        </p:nvSpPr>
        <p:spPr>
          <a:xfrm>
            <a:off x="8183880" y="2148840"/>
            <a:ext cx="1371600" cy="384048"/>
          </a:xfrm>
          <a:prstGeom prst="rect">
            <a:avLst/>
          </a:prstGeom>
          <a:noFill/>
          <a:ln/>
        </p:spPr>
        <p:txBody>
          <a:bodyPr wrap="square" lIns="0" tIns="0" rIns="0" bIns="0" rtlCol="0" anchor="ctr"/>
          <a:lstStyle/>
          <a:p>
            <a:pPr marL="0" indent="0">
              <a:buNone/>
            </a:pPr>
            <a:r>
              <a:rPr lang="en-US" sz="1150" b="1" dirty="0">
                <a:solidFill>
                  <a:srgbClr val="B3261E"/>
                </a:solidFill>
                <a:latin typeface="Cambria" panose="02040503050406030204" pitchFamily="18" charset="0"/>
                <a:ea typeface="Cambria" panose="02040503050406030204" pitchFamily="18" charset="0"/>
                <a:cs typeface="Calibri" pitchFamily="34" charset="-120"/>
              </a:rPr>
              <a:t>Range</a:t>
            </a:r>
            <a:endParaRPr lang="en-US" sz="1150" dirty="0">
              <a:latin typeface="Cambria" panose="02040503050406030204" pitchFamily="18" charset="0"/>
              <a:ea typeface="Cambria" panose="02040503050406030204" pitchFamily="18" charset="0"/>
            </a:endParaRPr>
          </a:p>
        </p:txBody>
      </p:sp>
      <p:sp>
        <p:nvSpPr>
          <p:cNvPr id="8" name="Text 5"/>
          <p:cNvSpPr/>
          <p:nvPr/>
        </p:nvSpPr>
        <p:spPr>
          <a:xfrm>
            <a:off x="8183880" y="2368296"/>
            <a:ext cx="3200400" cy="365760"/>
          </a:xfrm>
          <a:prstGeom prst="rect">
            <a:avLst/>
          </a:prstGeom>
          <a:noFill/>
          <a:ln/>
        </p:spPr>
        <p:txBody>
          <a:bodyPr wrap="square" lIns="0" tIns="0" rIns="0" bIns="0" rtlCol="0" anchor="ctr"/>
          <a:lstStyle/>
          <a:p>
            <a:pPr marL="0" indent="0">
              <a:buNone/>
            </a:pPr>
            <a:r>
              <a:rPr lang="en-US" sz="1150" dirty="0">
                <a:solidFill>
                  <a:srgbClr val="2B2F3A"/>
                </a:solidFill>
                <a:latin typeface="Cambria" panose="02040503050406030204" pitchFamily="18" charset="0"/>
                <a:ea typeface="Cambria" panose="02040503050406030204" pitchFamily="18" charset="0"/>
                <a:cs typeface="Calibri" pitchFamily="34" charset="-120"/>
              </a:rPr>
              <a:t>807 – 998 cases / month</a:t>
            </a:r>
            <a:endParaRPr lang="en-US" sz="1150" dirty="0">
              <a:latin typeface="Cambria" panose="02040503050406030204" pitchFamily="18" charset="0"/>
              <a:ea typeface="Cambria" panose="02040503050406030204" pitchFamily="18" charset="0"/>
            </a:endParaRPr>
          </a:p>
        </p:txBody>
      </p:sp>
      <p:sp>
        <p:nvSpPr>
          <p:cNvPr id="9" name="Text 6"/>
          <p:cNvSpPr/>
          <p:nvPr/>
        </p:nvSpPr>
        <p:spPr>
          <a:xfrm>
            <a:off x="8183880" y="2807208"/>
            <a:ext cx="1371600" cy="384048"/>
          </a:xfrm>
          <a:prstGeom prst="rect">
            <a:avLst/>
          </a:prstGeom>
          <a:noFill/>
          <a:ln/>
        </p:spPr>
        <p:txBody>
          <a:bodyPr wrap="square" lIns="0" tIns="0" rIns="0" bIns="0" rtlCol="0" anchor="ctr"/>
          <a:lstStyle/>
          <a:p>
            <a:pPr marL="0" indent="0">
              <a:buNone/>
            </a:pPr>
            <a:r>
              <a:rPr lang="en-US" sz="1150" b="1" dirty="0">
                <a:solidFill>
                  <a:srgbClr val="B3261E"/>
                </a:solidFill>
                <a:latin typeface="Cambria" panose="02040503050406030204" pitchFamily="18" charset="0"/>
                <a:ea typeface="Cambria" panose="02040503050406030204" pitchFamily="18" charset="0"/>
                <a:cs typeface="Calibri" pitchFamily="34" charset="-120"/>
              </a:rPr>
              <a:t>Pattern</a:t>
            </a:r>
            <a:endParaRPr lang="en-US" sz="1150" dirty="0">
              <a:latin typeface="Cambria" panose="02040503050406030204" pitchFamily="18" charset="0"/>
              <a:ea typeface="Cambria" panose="02040503050406030204" pitchFamily="18" charset="0"/>
            </a:endParaRPr>
          </a:p>
        </p:txBody>
      </p:sp>
      <p:sp>
        <p:nvSpPr>
          <p:cNvPr id="10" name="Text 7"/>
          <p:cNvSpPr/>
          <p:nvPr/>
        </p:nvSpPr>
        <p:spPr>
          <a:xfrm>
            <a:off x="8183880" y="3026664"/>
            <a:ext cx="3200400" cy="365760"/>
          </a:xfrm>
          <a:prstGeom prst="rect">
            <a:avLst/>
          </a:prstGeom>
          <a:noFill/>
          <a:ln/>
        </p:spPr>
        <p:txBody>
          <a:bodyPr wrap="square" lIns="0" tIns="0" rIns="0" bIns="0" rtlCol="0" anchor="ctr"/>
          <a:lstStyle/>
          <a:p>
            <a:pPr marL="0" indent="0">
              <a:buNone/>
            </a:pPr>
            <a:r>
              <a:rPr lang="en-US" sz="1150" dirty="0">
                <a:solidFill>
                  <a:srgbClr val="2B2F3A"/>
                </a:solidFill>
                <a:latin typeface="Cambria" panose="02040503050406030204" pitchFamily="18" charset="0"/>
                <a:ea typeface="Cambria" panose="02040503050406030204" pitchFamily="18" charset="0"/>
                <a:cs typeface="Calibri" pitchFamily="34" charset="-120"/>
              </a:rPr>
              <a:t>Cyclical, no clear trend</a:t>
            </a:r>
            <a:endParaRPr lang="en-US" sz="1150" dirty="0">
              <a:latin typeface="Cambria" panose="02040503050406030204" pitchFamily="18" charset="0"/>
              <a:ea typeface="Cambria" panose="02040503050406030204" pitchFamily="18" charset="0"/>
            </a:endParaRPr>
          </a:p>
        </p:txBody>
      </p:sp>
      <p:sp>
        <p:nvSpPr>
          <p:cNvPr id="11" name="Text 8"/>
          <p:cNvSpPr/>
          <p:nvPr/>
        </p:nvSpPr>
        <p:spPr>
          <a:xfrm>
            <a:off x="8183880" y="3465576"/>
            <a:ext cx="1371600" cy="384048"/>
          </a:xfrm>
          <a:prstGeom prst="rect">
            <a:avLst/>
          </a:prstGeom>
          <a:noFill/>
          <a:ln/>
        </p:spPr>
        <p:txBody>
          <a:bodyPr wrap="square" lIns="0" tIns="0" rIns="0" bIns="0" rtlCol="0" anchor="ctr"/>
          <a:lstStyle/>
          <a:p>
            <a:pPr marL="0" indent="0">
              <a:buNone/>
            </a:pPr>
            <a:r>
              <a:rPr lang="en-US" sz="1150" b="1" dirty="0">
                <a:solidFill>
                  <a:srgbClr val="B3261E"/>
                </a:solidFill>
                <a:latin typeface="Cambria" panose="02040503050406030204" pitchFamily="18" charset="0"/>
                <a:ea typeface="Cambria" panose="02040503050406030204" pitchFamily="18" charset="0"/>
                <a:cs typeface="Calibri" pitchFamily="34" charset="-120"/>
              </a:rPr>
              <a:t>2024 peak</a:t>
            </a:r>
            <a:endParaRPr lang="en-US" sz="1150" dirty="0">
              <a:latin typeface="Cambria" panose="02040503050406030204" pitchFamily="18" charset="0"/>
              <a:ea typeface="Cambria" panose="02040503050406030204" pitchFamily="18" charset="0"/>
            </a:endParaRPr>
          </a:p>
        </p:txBody>
      </p:sp>
      <p:sp>
        <p:nvSpPr>
          <p:cNvPr id="12" name="Text 9"/>
          <p:cNvSpPr/>
          <p:nvPr/>
        </p:nvSpPr>
        <p:spPr>
          <a:xfrm>
            <a:off x="8183880" y="3685032"/>
            <a:ext cx="3200400" cy="365760"/>
          </a:xfrm>
          <a:prstGeom prst="rect">
            <a:avLst/>
          </a:prstGeom>
          <a:noFill/>
          <a:ln/>
        </p:spPr>
        <p:txBody>
          <a:bodyPr wrap="square" lIns="0" tIns="0" rIns="0" bIns="0" rtlCol="0" anchor="ctr"/>
          <a:lstStyle/>
          <a:p>
            <a:pPr marL="0" indent="0">
              <a:buNone/>
            </a:pPr>
            <a:r>
              <a:rPr lang="en-US" sz="1150" dirty="0">
                <a:solidFill>
                  <a:srgbClr val="2B2F3A"/>
                </a:solidFill>
                <a:latin typeface="Cambria" panose="02040503050406030204" pitchFamily="18" charset="0"/>
                <a:ea typeface="Cambria" panose="02040503050406030204" pitchFamily="18" charset="0"/>
                <a:cs typeface="Calibri" pitchFamily="34" charset="-120"/>
              </a:rPr>
              <a:t>998 — ties the all-time high</a:t>
            </a:r>
            <a:endParaRPr lang="en-US" sz="1150" dirty="0">
              <a:latin typeface="Cambria" panose="02040503050406030204" pitchFamily="18" charset="0"/>
              <a:ea typeface="Cambria" panose="02040503050406030204" pitchFamily="18" charset="0"/>
            </a:endParaRPr>
          </a:p>
        </p:txBody>
      </p:sp>
      <p:sp>
        <p:nvSpPr>
          <p:cNvPr id="13" name="Text 10"/>
          <p:cNvSpPr/>
          <p:nvPr/>
        </p:nvSpPr>
        <p:spPr>
          <a:xfrm>
            <a:off x="8183880" y="4123944"/>
            <a:ext cx="1371600" cy="384048"/>
          </a:xfrm>
          <a:prstGeom prst="rect">
            <a:avLst/>
          </a:prstGeom>
          <a:noFill/>
          <a:ln/>
        </p:spPr>
        <p:txBody>
          <a:bodyPr wrap="square" lIns="0" tIns="0" rIns="0" bIns="0" rtlCol="0" anchor="ctr"/>
          <a:lstStyle/>
          <a:p>
            <a:pPr marL="0" indent="0">
              <a:buNone/>
            </a:pPr>
            <a:r>
              <a:rPr lang="en-US" sz="1150" b="1" dirty="0">
                <a:solidFill>
                  <a:srgbClr val="B3261E"/>
                </a:solidFill>
                <a:latin typeface="Cambria" panose="02040503050406030204" pitchFamily="18" charset="0"/>
                <a:ea typeface="Cambria" panose="02040503050406030204" pitchFamily="18" charset="0"/>
                <a:cs typeface="Calibri" pitchFamily="34" charset="-120"/>
              </a:rPr>
              <a:t>Deepest trough</a:t>
            </a:r>
            <a:endParaRPr lang="en-US" sz="1150" dirty="0">
              <a:latin typeface="Cambria" panose="02040503050406030204" pitchFamily="18" charset="0"/>
              <a:ea typeface="Cambria" panose="02040503050406030204" pitchFamily="18" charset="0"/>
            </a:endParaRPr>
          </a:p>
        </p:txBody>
      </p:sp>
      <p:sp>
        <p:nvSpPr>
          <p:cNvPr id="14" name="Text 11"/>
          <p:cNvSpPr/>
          <p:nvPr/>
        </p:nvSpPr>
        <p:spPr>
          <a:xfrm>
            <a:off x="8183880" y="4343400"/>
            <a:ext cx="3200400" cy="365760"/>
          </a:xfrm>
          <a:prstGeom prst="rect">
            <a:avLst/>
          </a:prstGeom>
          <a:noFill/>
          <a:ln/>
        </p:spPr>
        <p:txBody>
          <a:bodyPr wrap="square" lIns="0" tIns="0" rIns="0" bIns="0" rtlCol="0" anchor="ctr"/>
          <a:lstStyle/>
          <a:p>
            <a:pPr marL="0" indent="0">
              <a:buNone/>
            </a:pPr>
            <a:r>
              <a:rPr lang="en-US" sz="1150" dirty="0">
                <a:solidFill>
                  <a:srgbClr val="2B2F3A"/>
                </a:solidFill>
                <a:latin typeface="Cambria" panose="02040503050406030204" pitchFamily="18" charset="0"/>
                <a:ea typeface="Cambria" panose="02040503050406030204" pitchFamily="18" charset="0"/>
                <a:cs typeface="Calibri" pitchFamily="34" charset="-120"/>
              </a:rPr>
              <a:t>807, early 2021</a:t>
            </a:r>
            <a:endParaRPr lang="en-US" sz="1150" dirty="0">
              <a:latin typeface="Cambria" panose="02040503050406030204" pitchFamily="18" charset="0"/>
              <a:ea typeface="Cambria" panose="02040503050406030204" pitchFamily="18" charset="0"/>
            </a:endParaRPr>
          </a:p>
        </p:txBody>
      </p:sp>
      <p:sp>
        <p:nvSpPr>
          <p:cNvPr id="15" name="Shape 12"/>
          <p:cNvSpPr/>
          <p:nvPr/>
        </p:nvSpPr>
        <p:spPr>
          <a:xfrm>
            <a:off x="8183880" y="4828032"/>
            <a:ext cx="3108960" cy="0"/>
          </a:xfrm>
          <a:prstGeom prst="line">
            <a:avLst/>
          </a:prstGeom>
          <a:noFill/>
          <a:ln w="12700">
            <a:solidFill>
              <a:srgbClr val="E2E8F0"/>
            </a:solidFill>
            <a:prstDash val="solid"/>
          </a:ln>
        </p:spPr>
      </p:sp>
      <p:sp>
        <p:nvSpPr>
          <p:cNvPr id="16" name="Text 13"/>
          <p:cNvSpPr/>
          <p:nvPr/>
        </p:nvSpPr>
        <p:spPr>
          <a:xfrm>
            <a:off x="8183880" y="4965192"/>
            <a:ext cx="3246120" cy="1645920"/>
          </a:xfrm>
          <a:prstGeom prst="rect">
            <a:avLst/>
          </a:prstGeom>
          <a:noFill/>
          <a:ln/>
        </p:spPr>
        <p:txBody>
          <a:bodyPr wrap="square" rtlCol="0" anchor="t"/>
          <a:lstStyle/>
          <a:p>
            <a:pPr marL="0" indent="0">
              <a:buNone/>
            </a:pPr>
            <a:r>
              <a:rPr lang="en-US" sz="1150" i="1" dirty="0">
                <a:solidFill>
                  <a:srgbClr val="5B6472"/>
                </a:solidFill>
                <a:latin typeface="Cambria" panose="02040503050406030204" pitchFamily="18" charset="0"/>
                <a:ea typeface="Cambria" panose="02040503050406030204" pitchFamily="18" charset="0"/>
                <a:cs typeface="Calibri" pitchFamily="34" charset="-120"/>
              </a:rPr>
              <a:t>Takeaway: fraud volume is holding steady rather than declining. Five years in, controls are containing fraud, not reducing its incidence pointing to a need for sharper, behavior-based detection rather than more of the same rules.</a:t>
            </a:r>
            <a:endParaRPr lang="en-US" sz="1150" dirty="0">
              <a:latin typeface="Cambria" panose="02040503050406030204" pitchFamily="18" charset="0"/>
              <a:ea typeface="Cambria" panose="02040503050406030204" pitchFamily="18" charset="0"/>
            </a:endParaRPr>
          </a:p>
        </p:txBody>
      </p:sp>
      <p:sp>
        <p:nvSpPr>
          <p:cNvPr id="17" name="Text 14"/>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Bank Fraud Detection Analysis — Executive Report</a:t>
            </a:r>
            <a:endParaRPr lang="en-US" sz="900" dirty="0">
              <a:latin typeface="Cambria" panose="02040503050406030204" pitchFamily="18" charset="0"/>
              <a:ea typeface="Cambria" panose="02040503050406030204" pitchFamily="18" charset="0"/>
            </a:endParaRPr>
          </a:p>
        </p:txBody>
      </p:sp>
      <p:sp>
        <p:nvSpPr>
          <p:cNvPr id="18" name="Text 15"/>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3</a:t>
            </a:r>
            <a:endParaRPr lang="en-US" sz="9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B3261E"/>
                </a:solidFill>
                <a:latin typeface="Cambria" panose="02040503050406030204" pitchFamily="18" charset="0"/>
                <a:ea typeface="Cambria" panose="02040503050406030204" pitchFamily="18" charset="0"/>
                <a:cs typeface="Calibri" pitchFamily="34" charset="-120"/>
              </a:rPr>
              <a:t>RISK DRIVERS</a:t>
            </a:r>
            <a:endParaRPr lang="en-US" sz="1200" dirty="0">
              <a:latin typeface="Cambria" panose="02040503050406030204" pitchFamily="18" charset="0"/>
              <a:ea typeface="Cambria" panose="02040503050406030204" pitchFamily="18" charset="0"/>
            </a:endParaRPr>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2800" b="1" dirty="0">
                <a:solidFill>
                  <a:srgbClr val="1E2761"/>
                </a:solidFill>
                <a:latin typeface="Cambria" panose="02040503050406030204" pitchFamily="18" charset="0"/>
                <a:ea typeface="Cambria" panose="02040503050406030204" pitchFamily="18" charset="0"/>
                <a:cs typeface="Cambria" pitchFamily="34" charset="-120"/>
              </a:rPr>
              <a:t>Merchant Category Is the Sharpest Signal</a:t>
            </a:r>
            <a:endParaRPr lang="en-US" sz="2800" dirty="0">
              <a:latin typeface="Cambria" panose="02040503050406030204" pitchFamily="18" charset="0"/>
              <a:ea typeface="Cambria" panose="02040503050406030204" pitchFamily="18" charset="0"/>
            </a:endParaRPr>
          </a:p>
        </p:txBody>
      </p:sp>
      <p:graphicFrame>
        <p:nvGraphicFramePr>
          <p:cNvPr id="4" name="Chart 0"/>
          <p:cNvGraphicFramePr/>
          <p:nvPr>
            <p:extLst>
              <p:ext uri="{D42A27DB-BD31-4B8C-83A1-F6EECF244321}">
                <p14:modId xmlns:p14="http://schemas.microsoft.com/office/powerpoint/2010/main" val="3070035737"/>
              </p:ext>
            </p:extLst>
          </p:nvPr>
        </p:nvGraphicFramePr>
        <p:xfrm>
          <a:off x="548640" y="1417320"/>
          <a:ext cx="676656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43800" y="1417320"/>
            <a:ext cx="4069080" cy="4251960"/>
          </a:xfrm>
          <a:prstGeom prst="roundRect">
            <a:avLst>
              <a:gd name="adj" fmla="val 1348"/>
            </a:avLst>
          </a:prstGeom>
          <a:solidFill>
            <a:srgbClr val="F3F6FC"/>
          </a:solidFill>
          <a:ln/>
        </p:spPr>
      </p:sp>
      <p:sp>
        <p:nvSpPr>
          <p:cNvPr id="6" name="Shape 3"/>
          <p:cNvSpPr/>
          <p:nvPr/>
        </p:nvSpPr>
        <p:spPr>
          <a:xfrm>
            <a:off x="7818120" y="1691640"/>
            <a:ext cx="457200" cy="457200"/>
          </a:xfrm>
          <a:prstGeom prst="ellipse">
            <a:avLst/>
          </a:prstGeom>
          <a:solidFill>
            <a:srgbClr val="F3DEDC"/>
          </a:solidFill>
          <a:ln/>
        </p:spPr>
      </p:sp>
      <p:pic>
        <p:nvPicPr>
          <p:cNvPr id="7" name="Image 0" descr="icons/alert_red.png"/>
          <p:cNvPicPr>
            <a:picLocks noChangeAspect="1"/>
          </p:cNvPicPr>
          <p:nvPr/>
        </p:nvPicPr>
        <p:blipFill>
          <a:blip r:embed="rId4"/>
          <a:stretch>
            <a:fillRect/>
          </a:stretch>
        </p:blipFill>
        <p:spPr>
          <a:xfrm>
            <a:off x="7877556" y="1751076"/>
            <a:ext cx="338328" cy="338328"/>
          </a:xfrm>
          <a:prstGeom prst="rect">
            <a:avLst/>
          </a:prstGeom>
        </p:spPr>
      </p:pic>
      <p:sp>
        <p:nvSpPr>
          <p:cNvPr id="8" name="Text 4"/>
          <p:cNvSpPr/>
          <p:nvPr/>
        </p:nvSpPr>
        <p:spPr>
          <a:xfrm>
            <a:off x="8412480" y="1737360"/>
            <a:ext cx="3017520" cy="457200"/>
          </a:xfrm>
          <a:prstGeom prst="rect">
            <a:avLst/>
          </a:prstGeom>
          <a:noFill/>
          <a:ln/>
        </p:spPr>
        <p:txBody>
          <a:bodyPr wrap="square" rtlCol="0" anchor="ctr"/>
          <a:lstStyle/>
          <a:p>
            <a:pPr marL="0" indent="0">
              <a:buNone/>
            </a:pPr>
            <a:r>
              <a:rPr lang="en-US" sz="1400" b="1" dirty="0">
                <a:solidFill>
                  <a:srgbClr val="1E2761"/>
                </a:solidFill>
                <a:latin typeface="Cambria" panose="02040503050406030204" pitchFamily="18" charset="0"/>
                <a:ea typeface="Cambria" panose="02040503050406030204" pitchFamily="18" charset="0"/>
                <a:cs typeface="Cambria" pitchFamily="34" charset="-120"/>
              </a:rPr>
              <a:t>Nearly double the baseline</a:t>
            </a:r>
            <a:endParaRPr lang="en-US" sz="1400" dirty="0">
              <a:latin typeface="Cambria" panose="02040503050406030204" pitchFamily="18" charset="0"/>
              <a:ea typeface="Cambria" panose="02040503050406030204" pitchFamily="18" charset="0"/>
            </a:endParaRPr>
          </a:p>
        </p:txBody>
      </p:sp>
      <p:sp>
        <p:nvSpPr>
          <p:cNvPr id="9" name="Text 5"/>
          <p:cNvSpPr/>
          <p:nvPr/>
        </p:nvSpPr>
        <p:spPr>
          <a:xfrm>
            <a:off x="7818120" y="2331720"/>
            <a:ext cx="3611880" cy="3108960"/>
          </a:xfrm>
          <a:prstGeom prst="rect">
            <a:avLst/>
          </a:prstGeom>
          <a:noFill/>
          <a:ln/>
        </p:spPr>
        <p:txBody>
          <a:bodyPr wrap="square" rtlCol="0" anchor="t"/>
          <a:lstStyle/>
          <a:p>
            <a:pPr marL="342900" indent="-342900">
              <a:spcAft>
                <a:spcPts val="1200"/>
              </a:spcAft>
              <a:buSzPct val="100000"/>
              <a:buChar char="•"/>
            </a:pPr>
            <a:r>
              <a:rPr lang="en-US" sz="1250" dirty="0">
                <a:solidFill>
                  <a:srgbClr val="2B2F3A"/>
                </a:solidFill>
                <a:latin typeface="Cambria" panose="02040503050406030204" pitchFamily="18" charset="0"/>
                <a:ea typeface="Cambria" panose="02040503050406030204" pitchFamily="18" charset="0"/>
                <a:cs typeface="Calibri" pitchFamily="34" charset="-120"/>
              </a:rPr>
              <a:t>ATM withdrawals, jewelry, and crypto-exchange transactions all run 9% fraud every other merchant category sits near 5%.</a:t>
            </a:r>
            <a:endParaRPr lang="en-US" sz="1250" dirty="0">
              <a:latin typeface="Cambria" panose="02040503050406030204" pitchFamily="18" charset="0"/>
              <a:ea typeface="Cambria" panose="02040503050406030204" pitchFamily="18" charset="0"/>
            </a:endParaRPr>
          </a:p>
          <a:p>
            <a:pPr marL="342900" indent="-342900">
              <a:spcAft>
                <a:spcPts val="1200"/>
              </a:spcAft>
              <a:buSzPct val="100000"/>
              <a:buChar char="•"/>
            </a:pPr>
            <a:r>
              <a:rPr lang="en-US" sz="1250" dirty="0">
                <a:solidFill>
                  <a:srgbClr val="2B2F3A"/>
                </a:solidFill>
                <a:latin typeface="Cambria" panose="02040503050406030204" pitchFamily="18" charset="0"/>
                <a:ea typeface="Cambria" panose="02040503050406030204" pitchFamily="18" charset="0"/>
                <a:cs typeface="Calibri" pitchFamily="34" charset="-120"/>
              </a:rPr>
              <a:t>These three categories combine high liquidity (cash, gems, crypto convertibility) with limited reversibility once funds move.</a:t>
            </a:r>
            <a:endParaRPr lang="en-US" sz="1250" dirty="0">
              <a:latin typeface="Cambria" panose="02040503050406030204" pitchFamily="18" charset="0"/>
              <a:ea typeface="Cambria" panose="02040503050406030204" pitchFamily="18" charset="0"/>
            </a:endParaRPr>
          </a:p>
          <a:p>
            <a:pPr marL="342900" indent="-342900">
              <a:spcAft>
                <a:spcPts val="1200"/>
              </a:spcAft>
              <a:buSzPct val="100000"/>
              <a:buChar char="•"/>
            </a:pPr>
            <a:r>
              <a:rPr lang="en-US" sz="1250" dirty="0">
                <a:solidFill>
                  <a:srgbClr val="2B2F3A"/>
                </a:solidFill>
                <a:latin typeface="Cambria" panose="02040503050406030204" pitchFamily="18" charset="0"/>
                <a:ea typeface="Cambria" panose="02040503050406030204" pitchFamily="18" charset="0"/>
                <a:cs typeface="Calibri" pitchFamily="34" charset="-120"/>
              </a:rPr>
              <a:t>They warrant category-specific controls: lower velocity limits, mandatory step-up authentication, and faster manual-review triage.</a:t>
            </a:r>
            <a:endParaRPr lang="en-US" sz="1250" dirty="0">
              <a:latin typeface="Cambria" panose="02040503050406030204" pitchFamily="18" charset="0"/>
              <a:ea typeface="Cambria" panose="02040503050406030204" pitchFamily="18" charset="0"/>
            </a:endParaRPr>
          </a:p>
        </p:txBody>
      </p:sp>
      <p:sp>
        <p:nvSpPr>
          <p:cNvPr id="10" name="Text 6"/>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Bank Fraud Detection Analysis — Executive Report</a:t>
            </a:r>
            <a:endParaRPr lang="en-US" sz="900" dirty="0">
              <a:latin typeface="Cambria" panose="02040503050406030204" pitchFamily="18" charset="0"/>
              <a:ea typeface="Cambria" panose="02040503050406030204" pitchFamily="18" charset="0"/>
            </a:endParaRPr>
          </a:p>
        </p:txBody>
      </p:sp>
      <p:sp>
        <p:nvSpPr>
          <p:cNvPr id="11" name="Text 7"/>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4</a:t>
            </a:r>
            <a:endParaRPr lang="en-US" sz="900"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B3261E"/>
                </a:solidFill>
                <a:latin typeface="Cambria" panose="02040503050406030204" pitchFamily="18" charset="0"/>
                <a:ea typeface="Cambria" panose="02040503050406030204" pitchFamily="18" charset="0"/>
                <a:cs typeface="Calibri" pitchFamily="34" charset="-120"/>
              </a:rPr>
              <a:t>RISK DRIVERS</a:t>
            </a:r>
            <a:endParaRPr lang="en-US" sz="1200" dirty="0">
              <a:latin typeface="Cambria" panose="02040503050406030204" pitchFamily="18" charset="0"/>
              <a:ea typeface="Cambria" panose="02040503050406030204" pitchFamily="18" charset="0"/>
            </a:endParaRPr>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2800" b="1" dirty="0">
                <a:solidFill>
                  <a:srgbClr val="1E2761"/>
                </a:solidFill>
                <a:latin typeface="Cambria" panose="02040503050406030204" pitchFamily="18" charset="0"/>
                <a:ea typeface="Cambria" panose="02040503050406030204" pitchFamily="18" charset="0"/>
                <a:cs typeface="Cambria" pitchFamily="34" charset="-120"/>
              </a:rPr>
              <a:t>Channel, Device &amp; Geography: Weak Predictors Alone</a:t>
            </a:r>
            <a:endParaRPr lang="en-US" sz="2800" dirty="0">
              <a:latin typeface="Cambria" panose="02040503050406030204" pitchFamily="18" charset="0"/>
              <a:ea typeface="Cambria" panose="02040503050406030204" pitchFamily="18" charset="0"/>
            </a:endParaRPr>
          </a:p>
        </p:txBody>
      </p:sp>
      <p:sp>
        <p:nvSpPr>
          <p:cNvPr id="4" name="Text 2"/>
          <p:cNvSpPr/>
          <p:nvPr/>
        </p:nvSpPr>
        <p:spPr>
          <a:xfrm>
            <a:off x="548640" y="1371600"/>
            <a:ext cx="3474720" cy="320040"/>
          </a:xfrm>
          <a:prstGeom prst="rect">
            <a:avLst/>
          </a:prstGeom>
          <a:noFill/>
          <a:ln/>
        </p:spPr>
        <p:txBody>
          <a:bodyPr wrap="square" rtlCol="0" anchor="ctr"/>
          <a:lstStyle/>
          <a:p>
            <a:pPr marL="0" indent="0">
              <a:buNone/>
            </a:pPr>
            <a:r>
              <a:rPr lang="en-US" sz="1250" b="1" dirty="0">
                <a:solidFill>
                  <a:srgbClr val="1E2761"/>
                </a:solidFill>
                <a:latin typeface="Cambria" panose="02040503050406030204" pitchFamily="18" charset="0"/>
                <a:ea typeface="Cambria" panose="02040503050406030204" pitchFamily="18" charset="0"/>
                <a:cs typeface="Calibri" pitchFamily="34" charset="-120"/>
              </a:rPr>
              <a:t>Fraud Rate by Payment Method</a:t>
            </a:r>
            <a:endParaRPr lang="en-US" sz="1250" dirty="0">
              <a:latin typeface="Cambria" panose="02040503050406030204" pitchFamily="18" charset="0"/>
              <a:ea typeface="Cambria" panose="02040503050406030204" pitchFamily="18" charset="0"/>
            </a:endParaRPr>
          </a:p>
        </p:txBody>
      </p:sp>
      <p:graphicFrame>
        <p:nvGraphicFramePr>
          <p:cNvPr id="5" name="Chart 0"/>
          <p:cNvGraphicFramePr/>
          <p:nvPr>
            <p:extLst>
              <p:ext uri="{D42A27DB-BD31-4B8C-83A1-F6EECF244321}">
                <p14:modId xmlns:p14="http://schemas.microsoft.com/office/powerpoint/2010/main" val="1167642913"/>
              </p:ext>
            </p:extLst>
          </p:nvPr>
        </p:nvGraphicFramePr>
        <p:xfrm>
          <a:off x="457200" y="1691640"/>
          <a:ext cx="365760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343400" y="1371600"/>
            <a:ext cx="3474720" cy="320040"/>
          </a:xfrm>
          <a:prstGeom prst="rect">
            <a:avLst/>
          </a:prstGeom>
          <a:noFill/>
          <a:ln/>
        </p:spPr>
        <p:txBody>
          <a:bodyPr wrap="square" rtlCol="0" anchor="ctr"/>
          <a:lstStyle/>
          <a:p>
            <a:pPr marL="0" indent="0">
              <a:buNone/>
            </a:pPr>
            <a:r>
              <a:rPr lang="en-US" sz="1250" b="1" dirty="0">
                <a:solidFill>
                  <a:srgbClr val="1E2761"/>
                </a:solidFill>
                <a:latin typeface="Cambria" panose="02040503050406030204" pitchFamily="18" charset="0"/>
                <a:ea typeface="Cambria" panose="02040503050406030204" pitchFamily="18" charset="0"/>
                <a:cs typeface="Calibri" pitchFamily="34" charset="-120"/>
              </a:rPr>
              <a:t>Fraud Rate by Device Type</a:t>
            </a:r>
            <a:endParaRPr lang="en-US" sz="1250" dirty="0">
              <a:latin typeface="Cambria" panose="02040503050406030204" pitchFamily="18" charset="0"/>
              <a:ea typeface="Cambria" panose="02040503050406030204" pitchFamily="18" charset="0"/>
            </a:endParaRPr>
          </a:p>
        </p:txBody>
      </p:sp>
      <p:graphicFrame>
        <p:nvGraphicFramePr>
          <p:cNvPr id="7" name="Chart 1"/>
          <p:cNvGraphicFramePr/>
          <p:nvPr>
            <p:extLst>
              <p:ext uri="{D42A27DB-BD31-4B8C-83A1-F6EECF244321}">
                <p14:modId xmlns:p14="http://schemas.microsoft.com/office/powerpoint/2010/main" val="4139410877"/>
              </p:ext>
            </p:extLst>
          </p:nvPr>
        </p:nvGraphicFramePr>
        <p:xfrm>
          <a:off x="4251960" y="1691640"/>
          <a:ext cx="3657600" cy="210312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8138160" y="1371600"/>
            <a:ext cx="3474720" cy="320040"/>
          </a:xfrm>
          <a:prstGeom prst="rect">
            <a:avLst/>
          </a:prstGeom>
          <a:noFill/>
          <a:ln/>
        </p:spPr>
        <p:txBody>
          <a:bodyPr wrap="square" rtlCol="0" anchor="ctr"/>
          <a:lstStyle/>
          <a:p>
            <a:pPr marL="0" indent="0">
              <a:buNone/>
            </a:pPr>
            <a:r>
              <a:rPr lang="en-US" sz="1250" b="1" dirty="0">
                <a:solidFill>
                  <a:srgbClr val="1E2761"/>
                </a:solidFill>
                <a:latin typeface="Cambria" panose="02040503050406030204" pitchFamily="18" charset="0"/>
                <a:ea typeface="Cambria" panose="02040503050406030204" pitchFamily="18" charset="0"/>
                <a:cs typeface="Calibri" pitchFamily="34" charset="-120"/>
              </a:rPr>
              <a:t>Fraud Rate by Country (top 10)</a:t>
            </a:r>
            <a:endParaRPr lang="en-US" sz="1250" dirty="0">
              <a:latin typeface="Cambria" panose="02040503050406030204" pitchFamily="18" charset="0"/>
              <a:ea typeface="Cambria" panose="02040503050406030204" pitchFamily="18" charset="0"/>
            </a:endParaRPr>
          </a:p>
        </p:txBody>
      </p:sp>
      <p:graphicFrame>
        <p:nvGraphicFramePr>
          <p:cNvPr id="9" name="Chart 2"/>
          <p:cNvGraphicFramePr/>
          <p:nvPr>
            <p:extLst>
              <p:ext uri="{D42A27DB-BD31-4B8C-83A1-F6EECF244321}">
                <p14:modId xmlns:p14="http://schemas.microsoft.com/office/powerpoint/2010/main" val="3474116402"/>
              </p:ext>
            </p:extLst>
          </p:nvPr>
        </p:nvGraphicFramePr>
        <p:xfrm>
          <a:off x="8046720" y="1691640"/>
          <a:ext cx="3657600" cy="2103120"/>
        </p:xfrm>
        <a:graphic>
          <a:graphicData uri="http://schemas.openxmlformats.org/drawingml/2006/chart">
            <c:chart xmlns:c="http://schemas.openxmlformats.org/drawingml/2006/chart" xmlns:r="http://schemas.openxmlformats.org/officeDocument/2006/relationships" r:id="rId5"/>
          </a:graphicData>
        </a:graphic>
      </p:graphicFrame>
      <p:sp>
        <p:nvSpPr>
          <p:cNvPr id="10" name="Shape 5"/>
          <p:cNvSpPr/>
          <p:nvPr/>
        </p:nvSpPr>
        <p:spPr>
          <a:xfrm>
            <a:off x="548640" y="3977640"/>
            <a:ext cx="11109960" cy="1874520"/>
          </a:xfrm>
          <a:prstGeom prst="roundRect">
            <a:avLst>
              <a:gd name="adj" fmla="val 2927"/>
            </a:avLst>
          </a:prstGeom>
          <a:solidFill>
            <a:srgbClr val="F3F6FC"/>
          </a:solidFill>
          <a:ln/>
        </p:spPr>
      </p:sp>
      <p:sp>
        <p:nvSpPr>
          <p:cNvPr id="11" name="Shape 6"/>
          <p:cNvSpPr/>
          <p:nvPr/>
        </p:nvSpPr>
        <p:spPr>
          <a:xfrm>
            <a:off x="822960" y="4224528"/>
            <a:ext cx="457200" cy="457200"/>
          </a:xfrm>
          <a:prstGeom prst="ellipse">
            <a:avLst/>
          </a:prstGeom>
          <a:solidFill>
            <a:srgbClr val="CADCFC"/>
          </a:solidFill>
          <a:ln/>
        </p:spPr>
      </p:sp>
      <p:pic>
        <p:nvPicPr>
          <p:cNvPr id="12" name="Image 0" descr="icons/globe_navy.png"/>
          <p:cNvPicPr>
            <a:picLocks noChangeAspect="1"/>
          </p:cNvPicPr>
          <p:nvPr/>
        </p:nvPicPr>
        <p:blipFill>
          <a:blip r:embed="rId6"/>
          <a:stretch>
            <a:fillRect/>
          </a:stretch>
        </p:blipFill>
        <p:spPr>
          <a:xfrm>
            <a:off x="882396" y="4283964"/>
            <a:ext cx="338328" cy="338328"/>
          </a:xfrm>
          <a:prstGeom prst="rect">
            <a:avLst/>
          </a:prstGeom>
        </p:spPr>
      </p:pic>
      <p:sp>
        <p:nvSpPr>
          <p:cNvPr id="13" name="Text 7"/>
          <p:cNvSpPr/>
          <p:nvPr/>
        </p:nvSpPr>
        <p:spPr>
          <a:xfrm>
            <a:off x="1417320" y="4279392"/>
            <a:ext cx="2743200" cy="365760"/>
          </a:xfrm>
          <a:prstGeom prst="rect">
            <a:avLst/>
          </a:prstGeom>
          <a:noFill/>
          <a:ln/>
        </p:spPr>
        <p:txBody>
          <a:bodyPr wrap="square" rtlCol="0" anchor="ctr"/>
          <a:lstStyle/>
          <a:p>
            <a:pPr marL="0" indent="0">
              <a:buNone/>
            </a:pPr>
            <a:r>
              <a:rPr lang="en-US" sz="1400" b="1" dirty="0">
                <a:solidFill>
                  <a:srgbClr val="1E2761"/>
                </a:solidFill>
                <a:latin typeface="Cambria" panose="02040503050406030204" pitchFamily="18" charset="0"/>
                <a:ea typeface="Cambria" panose="02040503050406030204" pitchFamily="18" charset="0"/>
                <a:cs typeface="Cambria" pitchFamily="34" charset="-120"/>
              </a:rPr>
              <a:t>Takeaway</a:t>
            </a:r>
            <a:endParaRPr lang="en-US" sz="1400" dirty="0">
              <a:latin typeface="Cambria" panose="02040503050406030204" pitchFamily="18" charset="0"/>
              <a:ea typeface="Cambria" panose="02040503050406030204" pitchFamily="18" charset="0"/>
            </a:endParaRPr>
          </a:p>
        </p:txBody>
      </p:sp>
      <p:sp>
        <p:nvSpPr>
          <p:cNvPr id="14" name="Text 8"/>
          <p:cNvSpPr/>
          <p:nvPr/>
        </p:nvSpPr>
        <p:spPr>
          <a:xfrm>
            <a:off x="1417320" y="4663440"/>
            <a:ext cx="9966960" cy="1051560"/>
          </a:xfrm>
          <a:prstGeom prst="rect">
            <a:avLst/>
          </a:prstGeom>
          <a:noFill/>
          <a:ln/>
        </p:spPr>
        <p:txBody>
          <a:bodyPr wrap="square" rtlCol="0" anchor="t"/>
          <a:lstStyle/>
          <a:p>
            <a:pPr marL="0" indent="0">
              <a:buNone/>
            </a:pPr>
            <a:r>
              <a:rPr lang="en-US" sz="1250" dirty="0">
                <a:solidFill>
                  <a:srgbClr val="2B2F3A"/>
                </a:solidFill>
                <a:latin typeface="Cambria" panose="02040503050406030204" pitchFamily="18" charset="0"/>
                <a:ea typeface="Cambria" panose="02040503050406030204" pitchFamily="18" charset="0"/>
                <a:cs typeface="Calibri" pitchFamily="34" charset="-120"/>
              </a:rPr>
              <a:t>Payment method, device, and country all cluster tightly in a 0.05–0.06 band a 1-point spread. None of these attributes meaningfully separates fraud from legitimate activity on its own, so rules built primarily around them will over-flag good customers without catching more fraud. They're useful as context, not as primary triggers.</a:t>
            </a:r>
            <a:endParaRPr lang="en-US" sz="1250" dirty="0">
              <a:latin typeface="Cambria" panose="02040503050406030204" pitchFamily="18" charset="0"/>
              <a:ea typeface="Cambria" panose="02040503050406030204" pitchFamily="18" charset="0"/>
            </a:endParaRPr>
          </a:p>
        </p:txBody>
      </p:sp>
      <p:sp>
        <p:nvSpPr>
          <p:cNvPr id="15" name="Text 9"/>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Bank Fraud Detection Analysis — Executive Report</a:t>
            </a:r>
            <a:endParaRPr lang="en-US" sz="900" dirty="0">
              <a:latin typeface="Cambria" panose="02040503050406030204" pitchFamily="18" charset="0"/>
              <a:ea typeface="Cambria" panose="02040503050406030204" pitchFamily="18" charset="0"/>
            </a:endParaRPr>
          </a:p>
        </p:txBody>
      </p:sp>
      <p:sp>
        <p:nvSpPr>
          <p:cNvPr id="16" name="Text 10"/>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5</a:t>
            </a:r>
            <a:endParaRPr lang="en-US" sz="900"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B3261E"/>
                </a:solidFill>
                <a:latin typeface="Cambria" panose="02040503050406030204" pitchFamily="18" charset="0"/>
                <a:ea typeface="Cambria" panose="02040503050406030204" pitchFamily="18" charset="0"/>
                <a:cs typeface="Calibri" pitchFamily="34" charset="-120"/>
              </a:rPr>
              <a:t>CUSTOMER RISK</a:t>
            </a:r>
            <a:endParaRPr lang="en-US" sz="1200" dirty="0">
              <a:latin typeface="Cambria" panose="02040503050406030204" pitchFamily="18" charset="0"/>
              <a:ea typeface="Cambria" panose="02040503050406030204" pitchFamily="18" charset="0"/>
            </a:endParaRPr>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2800" b="1" dirty="0">
                <a:solidFill>
                  <a:srgbClr val="1E2761"/>
                </a:solidFill>
                <a:latin typeface="Cambria" panose="02040503050406030204" pitchFamily="18" charset="0"/>
                <a:ea typeface="Cambria" panose="02040503050406030204" pitchFamily="18" charset="0"/>
                <a:cs typeface="Cambria" pitchFamily="34" charset="-120"/>
              </a:rPr>
              <a:t>Customer Profile Adds Only Modest Lift</a:t>
            </a:r>
            <a:endParaRPr lang="en-US" sz="2800" dirty="0">
              <a:latin typeface="Cambria" panose="02040503050406030204" pitchFamily="18" charset="0"/>
              <a:ea typeface="Cambria" panose="02040503050406030204" pitchFamily="18" charset="0"/>
            </a:endParaRPr>
          </a:p>
        </p:txBody>
      </p:sp>
      <p:sp>
        <p:nvSpPr>
          <p:cNvPr id="4" name="Text 2"/>
          <p:cNvSpPr/>
          <p:nvPr/>
        </p:nvSpPr>
        <p:spPr>
          <a:xfrm>
            <a:off x="548640" y="1371600"/>
            <a:ext cx="3474720" cy="320040"/>
          </a:xfrm>
          <a:prstGeom prst="rect">
            <a:avLst/>
          </a:prstGeom>
          <a:noFill/>
          <a:ln/>
        </p:spPr>
        <p:txBody>
          <a:bodyPr wrap="square" rtlCol="0" anchor="ctr"/>
          <a:lstStyle/>
          <a:p>
            <a:pPr marL="0" indent="0">
              <a:buNone/>
            </a:pPr>
            <a:r>
              <a:rPr lang="en-US" sz="1250" b="1" dirty="0">
                <a:solidFill>
                  <a:srgbClr val="1E2761"/>
                </a:solidFill>
                <a:latin typeface="Cambria" panose="02040503050406030204" pitchFamily="18" charset="0"/>
                <a:ea typeface="Cambria" panose="02040503050406030204" pitchFamily="18" charset="0"/>
                <a:cs typeface="Calibri" pitchFamily="34" charset="-120"/>
              </a:rPr>
              <a:t>Fraud Rate by Credit Band</a:t>
            </a:r>
            <a:endParaRPr lang="en-US" sz="1250" dirty="0">
              <a:latin typeface="Cambria" panose="02040503050406030204" pitchFamily="18" charset="0"/>
              <a:ea typeface="Cambria" panose="02040503050406030204" pitchFamily="18" charset="0"/>
            </a:endParaRPr>
          </a:p>
        </p:txBody>
      </p:sp>
      <p:graphicFrame>
        <p:nvGraphicFramePr>
          <p:cNvPr id="5" name="Chart 0"/>
          <p:cNvGraphicFramePr/>
          <p:nvPr>
            <p:extLst>
              <p:ext uri="{D42A27DB-BD31-4B8C-83A1-F6EECF244321}">
                <p14:modId xmlns:p14="http://schemas.microsoft.com/office/powerpoint/2010/main" val="2753029662"/>
              </p:ext>
            </p:extLst>
          </p:nvPr>
        </p:nvGraphicFramePr>
        <p:xfrm>
          <a:off x="457200" y="1691640"/>
          <a:ext cx="365760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343400" y="1371600"/>
            <a:ext cx="3566160" cy="320040"/>
          </a:xfrm>
          <a:prstGeom prst="rect">
            <a:avLst/>
          </a:prstGeom>
          <a:noFill/>
          <a:ln/>
        </p:spPr>
        <p:txBody>
          <a:bodyPr wrap="square" rtlCol="0" anchor="ctr"/>
          <a:lstStyle/>
          <a:p>
            <a:pPr marL="0" indent="0">
              <a:buNone/>
            </a:pPr>
            <a:r>
              <a:rPr lang="en-US" sz="1250" b="1" dirty="0">
                <a:solidFill>
                  <a:srgbClr val="1E2761"/>
                </a:solidFill>
                <a:latin typeface="Cambria" panose="02040503050406030204" pitchFamily="18" charset="0"/>
                <a:ea typeface="Cambria" panose="02040503050406030204" pitchFamily="18" charset="0"/>
                <a:cs typeface="Calibri" pitchFamily="34" charset="-120"/>
              </a:rPr>
              <a:t>Fraud Rate by Transaction Amount Band</a:t>
            </a:r>
            <a:endParaRPr lang="en-US" sz="1250" dirty="0">
              <a:latin typeface="Cambria" panose="02040503050406030204" pitchFamily="18" charset="0"/>
              <a:ea typeface="Cambria" panose="02040503050406030204" pitchFamily="18" charset="0"/>
            </a:endParaRPr>
          </a:p>
        </p:txBody>
      </p:sp>
      <p:graphicFrame>
        <p:nvGraphicFramePr>
          <p:cNvPr id="7" name="Chart 1"/>
          <p:cNvGraphicFramePr/>
          <p:nvPr>
            <p:extLst>
              <p:ext uri="{D42A27DB-BD31-4B8C-83A1-F6EECF244321}">
                <p14:modId xmlns:p14="http://schemas.microsoft.com/office/powerpoint/2010/main" val="77223172"/>
              </p:ext>
            </p:extLst>
          </p:nvPr>
        </p:nvGraphicFramePr>
        <p:xfrm>
          <a:off x="4251960" y="1691640"/>
          <a:ext cx="3657600" cy="210312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8138160" y="1371600"/>
            <a:ext cx="3474720" cy="320040"/>
          </a:xfrm>
          <a:prstGeom prst="rect">
            <a:avLst/>
          </a:prstGeom>
          <a:noFill/>
          <a:ln/>
        </p:spPr>
        <p:txBody>
          <a:bodyPr wrap="square" rtlCol="0" anchor="ctr"/>
          <a:lstStyle/>
          <a:p>
            <a:pPr marL="0" indent="0">
              <a:buNone/>
            </a:pPr>
            <a:r>
              <a:rPr lang="en-US" sz="1250" b="1" dirty="0">
                <a:solidFill>
                  <a:srgbClr val="1E2761"/>
                </a:solidFill>
                <a:latin typeface="Cambria" panose="02040503050406030204" pitchFamily="18" charset="0"/>
                <a:ea typeface="Cambria" panose="02040503050406030204" pitchFamily="18" charset="0"/>
                <a:cs typeface="Calibri" pitchFamily="34" charset="-120"/>
              </a:rPr>
              <a:t>Fraud Rate by Age Band</a:t>
            </a:r>
            <a:endParaRPr lang="en-US" sz="1250" dirty="0">
              <a:latin typeface="Cambria" panose="02040503050406030204" pitchFamily="18" charset="0"/>
              <a:ea typeface="Cambria" panose="02040503050406030204" pitchFamily="18" charset="0"/>
            </a:endParaRPr>
          </a:p>
        </p:txBody>
      </p:sp>
      <p:graphicFrame>
        <p:nvGraphicFramePr>
          <p:cNvPr id="9" name="Chart 2"/>
          <p:cNvGraphicFramePr/>
          <p:nvPr>
            <p:extLst>
              <p:ext uri="{D42A27DB-BD31-4B8C-83A1-F6EECF244321}">
                <p14:modId xmlns:p14="http://schemas.microsoft.com/office/powerpoint/2010/main" val="4016416422"/>
              </p:ext>
            </p:extLst>
          </p:nvPr>
        </p:nvGraphicFramePr>
        <p:xfrm>
          <a:off x="8046720" y="1691640"/>
          <a:ext cx="3657600" cy="2103120"/>
        </p:xfrm>
        <a:graphic>
          <a:graphicData uri="http://schemas.openxmlformats.org/drawingml/2006/chart">
            <c:chart xmlns:c="http://schemas.openxmlformats.org/drawingml/2006/chart" xmlns:r="http://schemas.openxmlformats.org/officeDocument/2006/relationships" r:id="rId5"/>
          </a:graphicData>
        </a:graphic>
      </p:graphicFrame>
      <p:sp>
        <p:nvSpPr>
          <p:cNvPr id="10" name="Shape 5"/>
          <p:cNvSpPr/>
          <p:nvPr/>
        </p:nvSpPr>
        <p:spPr>
          <a:xfrm>
            <a:off x="548640" y="3977640"/>
            <a:ext cx="11109960" cy="1874520"/>
          </a:xfrm>
          <a:prstGeom prst="roundRect">
            <a:avLst>
              <a:gd name="adj" fmla="val 2927"/>
            </a:avLst>
          </a:prstGeom>
          <a:solidFill>
            <a:srgbClr val="F3F6FC"/>
          </a:solidFill>
          <a:ln/>
        </p:spPr>
      </p:sp>
      <p:sp>
        <p:nvSpPr>
          <p:cNvPr id="11" name="Shape 6"/>
          <p:cNvSpPr/>
          <p:nvPr/>
        </p:nvSpPr>
        <p:spPr>
          <a:xfrm>
            <a:off x="822960" y="4224528"/>
            <a:ext cx="457200" cy="457200"/>
          </a:xfrm>
          <a:prstGeom prst="ellipse">
            <a:avLst/>
          </a:prstGeom>
          <a:solidFill>
            <a:srgbClr val="CADCFC"/>
          </a:solidFill>
          <a:ln/>
        </p:spPr>
      </p:sp>
      <p:pic>
        <p:nvPicPr>
          <p:cNvPr id="12" name="Image 0" descr="icons/usershield_navy.png"/>
          <p:cNvPicPr>
            <a:picLocks noChangeAspect="1"/>
          </p:cNvPicPr>
          <p:nvPr/>
        </p:nvPicPr>
        <p:blipFill>
          <a:blip r:embed="rId6"/>
          <a:stretch>
            <a:fillRect/>
          </a:stretch>
        </p:blipFill>
        <p:spPr>
          <a:xfrm>
            <a:off x="882396" y="4283964"/>
            <a:ext cx="338328" cy="338328"/>
          </a:xfrm>
          <a:prstGeom prst="rect">
            <a:avLst/>
          </a:prstGeom>
        </p:spPr>
      </p:pic>
      <p:sp>
        <p:nvSpPr>
          <p:cNvPr id="13" name="Text 7"/>
          <p:cNvSpPr/>
          <p:nvPr/>
        </p:nvSpPr>
        <p:spPr>
          <a:xfrm>
            <a:off x="1417320" y="4279392"/>
            <a:ext cx="2743200" cy="365760"/>
          </a:xfrm>
          <a:prstGeom prst="rect">
            <a:avLst/>
          </a:prstGeom>
          <a:noFill/>
          <a:ln/>
        </p:spPr>
        <p:txBody>
          <a:bodyPr wrap="square" rtlCol="0" anchor="ctr"/>
          <a:lstStyle/>
          <a:p>
            <a:pPr marL="0" indent="0">
              <a:buNone/>
            </a:pPr>
            <a:r>
              <a:rPr lang="en-US" sz="1400" b="1" dirty="0">
                <a:solidFill>
                  <a:srgbClr val="1E2761"/>
                </a:solidFill>
                <a:latin typeface="Cambria" panose="02040503050406030204" pitchFamily="18" charset="0"/>
                <a:ea typeface="Cambria" panose="02040503050406030204" pitchFamily="18" charset="0"/>
                <a:cs typeface="Cambria" pitchFamily="34" charset="-120"/>
              </a:rPr>
              <a:t>Takeaway</a:t>
            </a:r>
            <a:endParaRPr lang="en-US" sz="1400" dirty="0">
              <a:latin typeface="Cambria" panose="02040503050406030204" pitchFamily="18" charset="0"/>
              <a:ea typeface="Cambria" panose="02040503050406030204" pitchFamily="18" charset="0"/>
            </a:endParaRPr>
          </a:p>
        </p:txBody>
      </p:sp>
      <p:sp>
        <p:nvSpPr>
          <p:cNvPr id="14" name="Text 8"/>
          <p:cNvSpPr/>
          <p:nvPr/>
        </p:nvSpPr>
        <p:spPr>
          <a:xfrm>
            <a:off x="1417320" y="4663440"/>
            <a:ext cx="9966960" cy="1051560"/>
          </a:xfrm>
          <a:prstGeom prst="rect">
            <a:avLst/>
          </a:prstGeom>
          <a:noFill/>
          <a:ln/>
        </p:spPr>
        <p:txBody>
          <a:bodyPr wrap="square" rtlCol="0" anchor="t"/>
          <a:lstStyle/>
          <a:p>
            <a:pPr marL="0" indent="0">
              <a:buNone/>
            </a:pPr>
            <a:r>
              <a:rPr lang="en-US" sz="1250" dirty="0">
                <a:solidFill>
                  <a:srgbClr val="2B2F3A"/>
                </a:solidFill>
                <a:latin typeface="Cambria" panose="02040503050406030204" pitchFamily="18" charset="0"/>
                <a:ea typeface="Cambria" panose="02040503050406030204" pitchFamily="18" charset="0"/>
                <a:cs typeface="Calibri" pitchFamily="34" charset="-120"/>
              </a:rPr>
              <a:t>Customers with poor credit (5.9%) and very-high-value transactions (6.1%) skew slightly above the 5.5% baseline, and account age and age band barely move at all. Segment alone isn't a reliable filter, it's most useful combined with the behavioral signals on the next slide, e.g. flagging a very-high-value transaction from a poor-credit account with a recent PIN change.</a:t>
            </a:r>
            <a:endParaRPr lang="en-US" sz="1250" dirty="0">
              <a:latin typeface="Cambria" panose="02040503050406030204" pitchFamily="18" charset="0"/>
              <a:ea typeface="Cambria" panose="02040503050406030204" pitchFamily="18" charset="0"/>
            </a:endParaRPr>
          </a:p>
        </p:txBody>
      </p:sp>
      <p:sp>
        <p:nvSpPr>
          <p:cNvPr id="15" name="Text 9"/>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Bank Fraud Detection Analysis — Executive Report</a:t>
            </a:r>
            <a:endParaRPr lang="en-US" sz="900" dirty="0">
              <a:latin typeface="Cambria" panose="02040503050406030204" pitchFamily="18" charset="0"/>
              <a:ea typeface="Cambria" panose="02040503050406030204" pitchFamily="18" charset="0"/>
            </a:endParaRPr>
          </a:p>
        </p:txBody>
      </p:sp>
      <p:sp>
        <p:nvSpPr>
          <p:cNvPr id="16" name="Text 10"/>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6</a:t>
            </a:r>
            <a:endParaRPr lang="en-US" sz="900"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B3261E"/>
                </a:solidFill>
                <a:latin typeface="Cambria" panose="02040503050406030204" pitchFamily="18" charset="0"/>
                <a:ea typeface="Cambria" panose="02040503050406030204" pitchFamily="18" charset="0"/>
                <a:cs typeface="Calibri" pitchFamily="34" charset="-120"/>
              </a:rPr>
              <a:t>BEHAVIORAL SIGNALS</a:t>
            </a:r>
            <a:endParaRPr lang="en-US" sz="1200" dirty="0">
              <a:latin typeface="Cambria" panose="02040503050406030204" pitchFamily="18" charset="0"/>
              <a:ea typeface="Cambria" panose="02040503050406030204" pitchFamily="18" charset="0"/>
            </a:endParaRPr>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2800" b="1" dirty="0">
                <a:solidFill>
                  <a:srgbClr val="1E2761"/>
                </a:solidFill>
                <a:latin typeface="Cambria" panose="02040503050406030204" pitchFamily="18" charset="0"/>
                <a:ea typeface="Cambria" panose="02040503050406030204" pitchFamily="18" charset="0"/>
                <a:cs typeface="Cambria" pitchFamily="34" charset="-120"/>
              </a:rPr>
              <a:t>Fraud Clusters Overnight</a:t>
            </a:r>
            <a:endParaRPr lang="en-US" sz="2800" dirty="0">
              <a:latin typeface="Cambria" panose="02040503050406030204" pitchFamily="18" charset="0"/>
              <a:ea typeface="Cambria" panose="02040503050406030204" pitchFamily="18" charset="0"/>
            </a:endParaRPr>
          </a:p>
        </p:txBody>
      </p:sp>
      <p:graphicFrame>
        <p:nvGraphicFramePr>
          <p:cNvPr id="4" name="Chart 0"/>
          <p:cNvGraphicFramePr/>
          <p:nvPr>
            <p:extLst>
              <p:ext uri="{D42A27DB-BD31-4B8C-83A1-F6EECF244321}">
                <p14:modId xmlns:p14="http://schemas.microsoft.com/office/powerpoint/2010/main" val="1548919674"/>
              </p:ext>
            </p:extLst>
          </p:nvPr>
        </p:nvGraphicFramePr>
        <p:xfrm>
          <a:off x="579120" y="1417320"/>
          <a:ext cx="713232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4846320"/>
            <a:ext cx="3200400" cy="320040"/>
          </a:xfrm>
          <a:prstGeom prst="rect">
            <a:avLst/>
          </a:prstGeom>
          <a:noFill/>
          <a:ln/>
        </p:spPr>
        <p:txBody>
          <a:bodyPr wrap="square" rtlCol="0" anchor="ctr"/>
          <a:lstStyle/>
          <a:p>
            <a:pPr marL="0" indent="0">
              <a:buNone/>
            </a:pPr>
            <a:r>
              <a:rPr lang="en-US" sz="1250" b="1" dirty="0">
                <a:solidFill>
                  <a:srgbClr val="1E2761"/>
                </a:solidFill>
                <a:latin typeface="Cambria" panose="02040503050406030204" pitchFamily="18" charset="0"/>
                <a:ea typeface="Cambria" panose="02040503050406030204" pitchFamily="18" charset="0"/>
                <a:cs typeface="Calibri" pitchFamily="34" charset="-120"/>
              </a:rPr>
              <a:t>Weekend vs. Weekday</a:t>
            </a:r>
            <a:endParaRPr lang="en-US" sz="1250" dirty="0">
              <a:latin typeface="Cambria" panose="02040503050406030204" pitchFamily="18" charset="0"/>
              <a:ea typeface="Cambria" panose="02040503050406030204" pitchFamily="18" charset="0"/>
            </a:endParaRPr>
          </a:p>
        </p:txBody>
      </p:sp>
      <p:graphicFrame>
        <p:nvGraphicFramePr>
          <p:cNvPr id="6" name="Chart 1"/>
          <p:cNvGraphicFramePr/>
          <p:nvPr>
            <p:extLst>
              <p:ext uri="{D42A27DB-BD31-4B8C-83A1-F6EECF244321}">
                <p14:modId xmlns:p14="http://schemas.microsoft.com/office/powerpoint/2010/main" val="1609735104"/>
              </p:ext>
            </p:extLst>
          </p:nvPr>
        </p:nvGraphicFramePr>
        <p:xfrm>
          <a:off x="457200" y="5120640"/>
          <a:ext cx="3566160" cy="118872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7909560" y="1417320"/>
            <a:ext cx="3703320" cy="4892040"/>
          </a:xfrm>
          <a:prstGeom prst="roundRect">
            <a:avLst>
              <a:gd name="adj" fmla="val 1481"/>
            </a:avLst>
          </a:prstGeom>
          <a:solidFill>
            <a:srgbClr val="F3F6FC"/>
          </a:solidFill>
          <a:ln/>
        </p:spPr>
      </p:sp>
      <p:sp>
        <p:nvSpPr>
          <p:cNvPr id="8" name="Shape 4"/>
          <p:cNvSpPr/>
          <p:nvPr/>
        </p:nvSpPr>
        <p:spPr>
          <a:xfrm>
            <a:off x="8183880" y="1691640"/>
            <a:ext cx="457200" cy="457200"/>
          </a:xfrm>
          <a:prstGeom prst="ellipse">
            <a:avLst/>
          </a:prstGeom>
          <a:solidFill>
            <a:srgbClr val="CADCFC"/>
          </a:solidFill>
          <a:ln/>
        </p:spPr>
      </p:sp>
      <p:pic>
        <p:nvPicPr>
          <p:cNvPr id="9" name="Image 0" descr="icons/clock_navy.png"/>
          <p:cNvPicPr>
            <a:picLocks noChangeAspect="1"/>
          </p:cNvPicPr>
          <p:nvPr/>
        </p:nvPicPr>
        <p:blipFill>
          <a:blip r:embed="rId5"/>
          <a:stretch>
            <a:fillRect/>
          </a:stretch>
        </p:blipFill>
        <p:spPr>
          <a:xfrm>
            <a:off x="8243316" y="1751076"/>
            <a:ext cx="338328" cy="338328"/>
          </a:xfrm>
          <a:prstGeom prst="rect">
            <a:avLst/>
          </a:prstGeom>
        </p:spPr>
      </p:pic>
      <p:sp>
        <p:nvSpPr>
          <p:cNvPr id="10" name="Text 5"/>
          <p:cNvSpPr/>
          <p:nvPr/>
        </p:nvSpPr>
        <p:spPr>
          <a:xfrm>
            <a:off x="8183880" y="2286000"/>
            <a:ext cx="3291840" cy="548640"/>
          </a:xfrm>
          <a:prstGeom prst="rect">
            <a:avLst/>
          </a:prstGeom>
          <a:noFill/>
          <a:ln/>
        </p:spPr>
        <p:txBody>
          <a:bodyPr wrap="square" rtlCol="0" anchor="ctr"/>
          <a:lstStyle/>
          <a:p>
            <a:pPr marL="0" indent="0">
              <a:buNone/>
            </a:pPr>
            <a:r>
              <a:rPr lang="en-US" sz="1500" b="1" dirty="0">
                <a:solidFill>
                  <a:srgbClr val="1E2761"/>
                </a:solidFill>
                <a:latin typeface="Cambria" panose="02040503050406030204" pitchFamily="18" charset="0"/>
                <a:ea typeface="Cambria" panose="02040503050406030204" pitchFamily="18" charset="0"/>
                <a:cs typeface="Cambria" pitchFamily="34" charset="-120"/>
              </a:rPr>
              <a:t>Overnight = highest risk window</a:t>
            </a:r>
            <a:endParaRPr lang="en-US" sz="1500" dirty="0">
              <a:latin typeface="Cambria" panose="02040503050406030204" pitchFamily="18" charset="0"/>
              <a:ea typeface="Cambria" panose="02040503050406030204" pitchFamily="18" charset="0"/>
            </a:endParaRPr>
          </a:p>
        </p:txBody>
      </p:sp>
      <p:sp>
        <p:nvSpPr>
          <p:cNvPr id="11" name="Text 6"/>
          <p:cNvSpPr/>
          <p:nvPr/>
        </p:nvSpPr>
        <p:spPr>
          <a:xfrm>
            <a:off x="8183880" y="2880360"/>
            <a:ext cx="3337560" cy="3291840"/>
          </a:xfrm>
          <a:prstGeom prst="rect">
            <a:avLst/>
          </a:prstGeom>
          <a:noFill/>
          <a:ln/>
        </p:spPr>
        <p:txBody>
          <a:bodyPr wrap="square" rtlCol="0" anchor="t"/>
          <a:lstStyle/>
          <a:p>
            <a:pPr marL="342900" indent="-342900">
              <a:spcAft>
                <a:spcPts val="1200"/>
              </a:spcAft>
              <a:buSzPct val="100000"/>
              <a:buChar char="•"/>
            </a:pPr>
            <a:r>
              <a:rPr lang="en-US" sz="1200" dirty="0">
                <a:solidFill>
                  <a:srgbClr val="2B2F3A"/>
                </a:solidFill>
                <a:latin typeface="Cambria" panose="02040503050406030204" pitchFamily="18" charset="0"/>
                <a:ea typeface="Cambria" panose="02040503050406030204" pitchFamily="18" charset="0"/>
                <a:cs typeface="Calibri" pitchFamily="34" charset="-120"/>
              </a:rPr>
              <a:t>Fraud rate roughly doubles overnight: 7.8–8.1% between 22:00–05:00 vs. 3.9–4.5% during business hours (06:00–21:00).</a:t>
            </a:r>
            <a:endParaRPr lang="en-US" sz="1200" dirty="0">
              <a:latin typeface="Cambria" panose="02040503050406030204" pitchFamily="18" charset="0"/>
              <a:ea typeface="Cambria" panose="02040503050406030204" pitchFamily="18" charset="0"/>
            </a:endParaRPr>
          </a:p>
          <a:p>
            <a:pPr marL="342900" indent="-342900">
              <a:spcAft>
                <a:spcPts val="1200"/>
              </a:spcAft>
              <a:buSzPct val="100000"/>
              <a:buChar char="•"/>
            </a:pPr>
            <a:r>
              <a:rPr lang="en-US" sz="1200" dirty="0">
                <a:solidFill>
                  <a:srgbClr val="2B2F3A"/>
                </a:solidFill>
                <a:latin typeface="Cambria" panose="02040503050406030204" pitchFamily="18" charset="0"/>
                <a:ea typeface="Cambria" panose="02040503050406030204" pitchFamily="18" charset="0"/>
                <a:cs typeface="Calibri" pitchFamily="34" charset="-120"/>
              </a:rPr>
              <a:t>The pattern is sharp, not gradual, a clean step change right around business open/close.</a:t>
            </a:r>
            <a:endParaRPr lang="en-US" sz="1200" dirty="0">
              <a:latin typeface="Cambria" panose="02040503050406030204" pitchFamily="18" charset="0"/>
              <a:ea typeface="Cambria" panose="02040503050406030204" pitchFamily="18" charset="0"/>
            </a:endParaRPr>
          </a:p>
          <a:p>
            <a:pPr marL="342900" indent="-342900">
              <a:spcAft>
                <a:spcPts val="1200"/>
              </a:spcAft>
              <a:buSzPct val="100000"/>
              <a:buChar char="•"/>
            </a:pPr>
            <a:r>
              <a:rPr lang="en-US" sz="1200" dirty="0">
                <a:solidFill>
                  <a:srgbClr val="2B2F3A"/>
                </a:solidFill>
                <a:latin typeface="Cambria" panose="02040503050406030204" pitchFamily="18" charset="0"/>
                <a:ea typeface="Cambria" panose="02040503050406030204" pitchFamily="18" charset="0"/>
                <a:cs typeface="Calibri" pitchFamily="34" charset="-120"/>
              </a:rPr>
              <a:t>Weekend vs. weekday shows almost no difference (5.6% vs. 5.5%) day-of-week is not a useful signal; time-of-day is.</a:t>
            </a:r>
            <a:endParaRPr lang="en-US" sz="1200" dirty="0">
              <a:latin typeface="Cambria" panose="02040503050406030204" pitchFamily="18" charset="0"/>
              <a:ea typeface="Cambria" panose="02040503050406030204" pitchFamily="18" charset="0"/>
            </a:endParaRPr>
          </a:p>
          <a:p>
            <a:pPr marL="342900" indent="-342900">
              <a:spcAft>
                <a:spcPts val="1200"/>
              </a:spcAft>
              <a:buSzPct val="100000"/>
              <a:buChar char="•"/>
            </a:pPr>
            <a:r>
              <a:rPr lang="en-US" sz="1200" dirty="0">
                <a:solidFill>
                  <a:srgbClr val="2B2F3A"/>
                </a:solidFill>
                <a:latin typeface="Cambria" panose="02040503050406030204" pitchFamily="18" charset="0"/>
                <a:ea typeface="Cambria" panose="02040503050406030204" pitchFamily="18" charset="0"/>
                <a:cs typeface="Calibri" pitchFamily="34" charset="-120"/>
              </a:rPr>
              <a:t>Recommendation: apply tighter velocity limits and mandatory step-up verification for transactions between 22:00–06:00.</a:t>
            </a:r>
            <a:endParaRPr lang="en-US" sz="1200" dirty="0">
              <a:latin typeface="Cambria" panose="02040503050406030204" pitchFamily="18" charset="0"/>
              <a:ea typeface="Cambria" panose="02040503050406030204" pitchFamily="18" charset="0"/>
            </a:endParaRPr>
          </a:p>
        </p:txBody>
      </p:sp>
      <p:sp>
        <p:nvSpPr>
          <p:cNvPr id="12" name="Text 7"/>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Bank Fraud Detection Analysis — Executive Report</a:t>
            </a:r>
            <a:endParaRPr lang="en-US" sz="900" dirty="0">
              <a:latin typeface="Cambria" panose="02040503050406030204" pitchFamily="18" charset="0"/>
              <a:ea typeface="Cambria" panose="02040503050406030204" pitchFamily="18" charset="0"/>
            </a:endParaRPr>
          </a:p>
        </p:txBody>
      </p:sp>
      <p:sp>
        <p:nvSpPr>
          <p:cNvPr id="13" name="Text 8"/>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7</a:t>
            </a:r>
            <a:endParaRPr lang="en-US" sz="900"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47"/>
        </a:solidFill>
        <a:effectLst/>
      </p:bgPr>
    </p:bg>
    <p:spTree>
      <p:nvGrpSpPr>
        <p:cNvPr id="1" name=""/>
        <p:cNvGrpSpPr/>
        <p:nvPr/>
      </p:nvGrpSpPr>
      <p:grpSpPr>
        <a:xfrm>
          <a:off x="0" y="0"/>
          <a:ext cx="0" cy="0"/>
          <a:chOff x="0" y="0"/>
          <a:chExt cx="0" cy="0"/>
        </a:xfrm>
      </p:grpSpPr>
      <p:sp>
        <p:nvSpPr>
          <p:cNvPr id="2" name="Shape 0"/>
          <p:cNvSpPr/>
          <p:nvPr/>
        </p:nvSpPr>
        <p:spPr>
          <a:xfrm>
            <a:off x="9875520" y="-2286000"/>
            <a:ext cx="5486400" cy="5486400"/>
          </a:xfrm>
          <a:prstGeom prst="ellipse">
            <a:avLst/>
          </a:prstGeom>
          <a:solidFill>
            <a:srgbClr val="1E2761"/>
          </a:solidFill>
          <a:ln/>
        </p:spPr>
      </p:sp>
      <p:sp>
        <p:nvSpPr>
          <p:cNvPr id="3" name="Text 1"/>
          <p:cNvSpPr/>
          <p:nvPr/>
        </p:nvSpPr>
        <p:spPr>
          <a:xfrm>
            <a:off x="548640" y="365760"/>
            <a:ext cx="7315200" cy="320040"/>
          </a:xfrm>
          <a:prstGeom prst="rect">
            <a:avLst/>
          </a:prstGeom>
          <a:noFill/>
          <a:ln/>
        </p:spPr>
        <p:txBody>
          <a:bodyPr wrap="square" rtlCol="0" anchor="ctr"/>
          <a:lstStyle/>
          <a:p>
            <a:pPr marL="0" indent="0">
              <a:buNone/>
            </a:pPr>
            <a:r>
              <a:rPr lang="en-US" sz="1200" b="1" kern="0" spc="200" dirty="0">
                <a:solidFill>
                  <a:srgbClr val="F3DEDC"/>
                </a:solidFill>
                <a:latin typeface="Cambria" panose="02040503050406030204" pitchFamily="18" charset="0"/>
                <a:ea typeface="Cambria" panose="02040503050406030204" pitchFamily="18" charset="0"/>
                <a:cs typeface="Calibri" pitchFamily="34" charset="-120"/>
              </a:rPr>
              <a:t>THE HEADLINE FINDING</a:t>
            </a:r>
            <a:endParaRPr lang="en-US" sz="1200" dirty="0">
              <a:latin typeface="Cambria" panose="02040503050406030204" pitchFamily="18" charset="0"/>
              <a:ea typeface="Cambria" panose="02040503050406030204" pitchFamily="18" charset="0"/>
            </a:endParaRPr>
          </a:p>
        </p:txBody>
      </p:sp>
      <p:sp>
        <p:nvSpPr>
          <p:cNvPr id="4" name="Text 2"/>
          <p:cNvSpPr/>
          <p:nvPr/>
        </p:nvSpPr>
        <p:spPr>
          <a:xfrm>
            <a:off x="548640" y="658368"/>
            <a:ext cx="10972800" cy="731520"/>
          </a:xfrm>
          <a:prstGeom prst="rect">
            <a:avLst/>
          </a:prstGeom>
          <a:noFill/>
          <a:ln/>
        </p:spPr>
        <p:txBody>
          <a:bodyPr wrap="square" rtlCol="0" anchor="ctr"/>
          <a:lstStyle/>
          <a:p>
            <a:pPr marL="0" indent="0">
              <a:buNone/>
            </a:pPr>
            <a:r>
              <a:rPr lang="en-US" sz="2700" b="1" dirty="0">
                <a:solidFill>
                  <a:srgbClr val="FFFFFF"/>
                </a:solidFill>
                <a:latin typeface="Cambria" panose="02040503050406030204" pitchFamily="18" charset="0"/>
                <a:ea typeface="Cambria" panose="02040503050406030204" pitchFamily="18" charset="0"/>
                <a:cs typeface="Cambria" pitchFamily="34" charset="-120"/>
              </a:rPr>
              <a:t>Behavioral Flags Are the Strongest Fraud Predictors</a:t>
            </a:r>
            <a:endParaRPr lang="en-US" sz="2700" dirty="0">
              <a:latin typeface="Cambria" panose="02040503050406030204" pitchFamily="18" charset="0"/>
              <a:ea typeface="Cambria" panose="02040503050406030204" pitchFamily="18" charset="0"/>
            </a:endParaRPr>
          </a:p>
        </p:txBody>
      </p:sp>
      <p:sp>
        <p:nvSpPr>
          <p:cNvPr id="5" name="Text 3"/>
          <p:cNvSpPr/>
          <p:nvPr/>
        </p:nvSpPr>
        <p:spPr>
          <a:xfrm>
            <a:off x="548640" y="1298448"/>
            <a:ext cx="10515600" cy="457200"/>
          </a:xfrm>
          <a:prstGeom prst="rect">
            <a:avLst/>
          </a:prstGeom>
          <a:noFill/>
          <a:ln/>
        </p:spPr>
        <p:txBody>
          <a:bodyPr wrap="square" rtlCol="0" anchor="ctr"/>
          <a:lstStyle/>
          <a:p>
            <a:pPr marL="0" indent="0">
              <a:buNone/>
            </a:pPr>
            <a:r>
              <a:rPr lang="en-US" sz="1300" i="1" dirty="0">
                <a:solidFill>
                  <a:srgbClr val="CADCFC"/>
                </a:solidFill>
                <a:latin typeface="Cambria" panose="02040503050406030204" pitchFamily="18" charset="0"/>
                <a:ea typeface="Cambria" panose="02040503050406030204" pitchFamily="18" charset="0"/>
                <a:cs typeface="Calibri" pitchFamily="34" charset="-120"/>
              </a:rPr>
              <a:t>Three simple, real-time signals separate fraud from legitimate activity far better than any demographic or channel attribute.</a:t>
            </a:r>
            <a:endParaRPr lang="en-US" sz="1300" dirty="0">
              <a:latin typeface="Cambria" panose="02040503050406030204" pitchFamily="18" charset="0"/>
              <a:ea typeface="Cambria" panose="02040503050406030204" pitchFamily="18" charset="0"/>
            </a:endParaRPr>
          </a:p>
        </p:txBody>
      </p:sp>
      <p:sp>
        <p:nvSpPr>
          <p:cNvPr id="6" name="Shape 4"/>
          <p:cNvSpPr/>
          <p:nvPr/>
        </p:nvSpPr>
        <p:spPr>
          <a:xfrm>
            <a:off x="548640" y="1965960"/>
            <a:ext cx="3520440" cy="4160520"/>
          </a:xfrm>
          <a:prstGeom prst="roundRect">
            <a:avLst>
              <a:gd name="adj" fmla="val 2078"/>
            </a:avLst>
          </a:prstGeom>
          <a:solidFill>
            <a:srgbClr val="273579"/>
          </a:solidFill>
          <a:ln/>
        </p:spPr>
      </p:sp>
      <p:sp>
        <p:nvSpPr>
          <p:cNvPr id="7" name="Shape 5"/>
          <p:cNvSpPr/>
          <p:nvPr/>
        </p:nvSpPr>
        <p:spPr>
          <a:xfrm>
            <a:off x="822960" y="2240280"/>
            <a:ext cx="548640" cy="548640"/>
          </a:xfrm>
          <a:prstGeom prst="ellipse">
            <a:avLst/>
          </a:prstGeom>
          <a:solidFill>
            <a:srgbClr val="3A47A0"/>
          </a:solidFill>
          <a:ln/>
        </p:spPr>
      </p:sp>
      <p:pic>
        <p:nvPicPr>
          <p:cNvPr id="8" name="Image 0" descr="icons/key_white.png"/>
          <p:cNvPicPr>
            <a:picLocks noChangeAspect="1"/>
          </p:cNvPicPr>
          <p:nvPr/>
        </p:nvPicPr>
        <p:blipFill>
          <a:blip r:embed="rId3"/>
          <a:stretch>
            <a:fillRect/>
          </a:stretch>
        </p:blipFill>
        <p:spPr>
          <a:xfrm>
            <a:off x="894283" y="2311603"/>
            <a:ext cx="405994" cy="405994"/>
          </a:xfrm>
          <a:prstGeom prst="rect">
            <a:avLst/>
          </a:prstGeom>
        </p:spPr>
      </p:pic>
      <p:sp>
        <p:nvSpPr>
          <p:cNvPr id="9" name="Text 6"/>
          <p:cNvSpPr/>
          <p:nvPr/>
        </p:nvSpPr>
        <p:spPr>
          <a:xfrm>
            <a:off x="822960" y="2926080"/>
            <a:ext cx="297180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anose="02040503050406030204" pitchFamily="18" charset="0"/>
                <a:ea typeface="Cambria" panose="02040503050406030204" pitchFamily="18" charset="0"/>
                <a:cs typeface="Cambria" pitchFamily="34" charset="-120"/>
              </a:rPr>
              <a:t>Failed Attempts</a:t>
            </a:r>
            <a:endParaRPr lang="en-US" sz="1600" dirty="0">
              <a:latin typeface="Cambria" panose="02040503050406030204" pitchFamily="18" charset="0"/>
              <a:ea typeface="Cambria" panose="02040503050406030204" pitchFamily="18" charset="0"/>
            </a:endParaRPr>
          </a:p>
        </p:txBody>
      </p:sp>
      <p:sp>
        <p:nvSpPr>
          <p:cNvPr id="10" name="Text 7"/>
          <p:cNvSpPr/>
          <p:nvPr/>
        </p:nvSpPr>
        <p:spPr>
          <a:xfrm>
            <a:off x="822960" y="3383280"/>
            <a:ext cx="2971800" cy="868680"/>
          </a:xfrm>
          <a:prstGeom prst="rect">
            <a:avLst/>
          </a:prstGeom>
          <a:noFill/>
          <a:ln/>
        </p:spPr>
        <p:txBody>
          <a:bodyPr wrap="square" lIns="0" tIns="0" rIns="0" bIns="0" rtlCol="0" anchor="ctr"/>
          <a:lstStyle/>
          <a:p>
            <a:pPr marL="0" indent="0">
              <a:buNone/>
            </a:pPr>
            <a:r>
              <a:rPr lang="en-US" sz="4000" b="1" dirty="0">
                <a:solidFill>
                  <a:srgbClr val="FF8A80"/>
                </a:solidFill>
                <a:latin typeface="Cambria" panose="02040503050406030204" pitchFamily="18" charset="0"/>
                <a:ea typeface="Cambria" panose="02040503050406030204" pitchFamily="18" charset="0"/>
                <a:cs typeface="Cambria" pitchFamily="34" charset="-120"/>
              </a:rPr>
              <a:t>3.2</a:t>
            </a:r>
            <a:endParaRPr lang="en-US" sz="4000" dirty="0">
              <a:latin typeface="Cambria" panose="02040503050406030204" pitchFamily="18" charset="0"/>
              <a:ea typeface="Cambria" panose="02040503050406030204" pitchFamily="18" charset="0"/>
            </a:endParaRPr>
          </a:p>
        </p:txBody>
      </p:sp>
      <p:sp>
        <p:nvSpPr>
          <p:cNvPr id="11" name="Text 8"/>
          <p:cNvSpPr/>
          <p:nvPr/>
        </p:nvSpPr>
        <p:spPr>
          <a:xfrm>
            <a:off x="822960" y="4206240"/>
            <a:ext cx="2971800" cy="320040"/>
          </a:xfrm>
          <a:prstGeom prst="rect">
            <a:avLst/>
          </a:prstGeom>
          <a:noFill/>
          <a:ln/>
        </p:spPr>
        <p:txBody>
          <a:bodyPr wrap="square" lIns="0" tIns="0" rIns="0" bIns="0" rtlCol="0" anchor="ctr"/>
          <a:lstStyle/>
          <a:p>
            <a:pPr marL="0" indent="0">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higher fraud rate</a:t>
            </a:r>
            <a:endParaRPr lang="en-US" sz="1200" dirty="0">
              <a:latin typeface="Cambria" panose="02040503050406030204" pitchFamily="18" charset="0"/>
              <a:ea typeface="Cambria" panose="02040503050406030204" pitchFamily="18" charset="0"/>
            </a:endParaRPr>
          </a:p>
        </p:txBody>
      </p:sp>
      <p:sp>
        <p:nvSpPr>
          <p:cNvPr id="12" name="Shape 9"/>
          <p:cNvSpPr/>
          <p:nvPr/>
        </p:nvSpPr>
        <p:spPr>
          <a:xfrm>
            <a:off x="822960" y="4663440"/>
            <a:ext cx="2971800" cy="0"/>
          </a:xfrm>
          <a:prstGeom prst="line">
            <a:avLst/>
          </a:prstGeom>
          <a:noFill/>
          <a:ln w="12700">
            <a:solidFill>
              <a:srgbClr val="3E4A8C"/>
            </a:solidFill>
            <a:prstDash val="solid"/>
          </a:ln>
        </p:spPr>
      </p:sp>
      <p:sp>
        <p:nvSpPr>
          <p:cNvPr id="13" name="Text 10"/>
          <p:cNvSpPr/>
          <p:nvPr/>
        </p:nvSpPr>
        <p:spPr>
          <a:xfrm>
            <a:off x="822960" y="4800600"/>
            <a:ext cx="2971800" cy="365760"/>
          </a:xfrm>
          <a:prstGeom prst="rect">
            <a:avLst/>
          </a:prstGeom>
          <a:noFill/>
          <a:ln/>
        </p:spPr>
        <p:txBody>
          <a:bodyPr wrap="square" lIns="0" tIns="0" rIns="0" bIns="0" rtlCol="0" anchor="ctr"/>
          <a:lstStyle/>
          <a:p>
            <a:pPr marL="0" indent="0">
              <a:buNone/>
            </a:pPr>
            <a:r>
              <a:rPr lang="en-US" sz="1250" dirty="0">
                <a:solidFill>
                  <a:srgbClr val="AEB9E6"/>
                </a:solidFill>
                <a:latin typeface="Cambria" panose="02040503050406030204" pitchFamily="18" charset="0"/>
                <a:ea typeface="Cambria" panose="02040503050406030204" pitchFamily="18" charset="0"/>
                <a:cs typeface="Calibri" pitchFamily="34" charset="-120"/>
              </a:rPr>
              <a:t>0–1 attempts  </a:t>
            </a:r>
            <a:r>
              <a:rPr lang="en-US" sz="1250" b="1" dirty="0">
                <a:solidFill>
                  <a:srgbClr val="FFFFFF"/>
                </a:solidFill>
                <a:latin typeface="Cambria" panose="02040503050406030204" pitchFamily="18" charset="0"/>
                <a:ea typeface="Cambria" panose="02040503050406030204" pitchFamily="18" charset="0"/>
                <a:cs typeface="Calibri" pitchFamily="34" charset="-120"/>
              </a:rPr>
              <a:t>4.5%</a:t>
            </a:r>
            <a:endParaRPr lang="en-US" sz="1250" dirty="0">
              <a:latin typeface="Cambria" panose="02040503050406030204" pitchFamily="18" charset="0"/>
              <a:ea typeface="Cambria" panose="02040503050406030204" pitchFamily="18" charset="0"/>
            </a:endParaRPr>
          </a:p>
        </p:txBody>
      </p:sp>
      <p:sp>
        <p:nvSpPr>
          <p:cNvPr id="14" name="Text 11"/>
          <p:cNvSpPr/>
          <p:nvPr/>
        </p:nvSpPr>
        <p:spPr>
          <a:xfrm>
            <a:off x="822960" y="5212080"/>
            <a:ext cx="2971800" cy="365760"/>
          </a:xfrm>
          <a:prstGeom prst="rect">
            <a:avLst/>
          </a:prstGeom>
          <a:noFill/>
          <a:ln/>
        </p:spPr>
        <p:txBody>
          <a:bodyPr wrap="square" lIns="0" tIns="0" rIns="0" bIns="0" rtlCol="0" anchor="ctr"/>
          <a:lstStyle/>
          <a:p>
            <a:pPr marL="0" indent="0">
              <a:buNone/>
            </a:pPr>
            <a:r>
              <a:rPr lang="en-US" sz="1250" dirty="0">
                <a:solidFill>
                  <a:srgbClr val="AEB9E6"/>
                </a:solidFill>
                <a:latin typeface="Cambria" panose="02040503050406030204" pitchFamily="18" charset="0"/>
                <a:ea typeface="Cambria" panose="02040503050406030204" pitchFamily="18" charset="0"/>
                <a:cs typeface="Calibri" pitchFamily="34" charset="-120"/>
              </a:rPr>
              <a:t>2+ attempts  </a:t>
            </a:r>
            <a:r>
              <a:rPr lang="en-US" sz="1250" b="1" dirty="0">
                <a:solidFill>
                  <a:srgbClr val="FF8A80"/>
                </a:solidFill>
                <a:latin typeface="Cambria" panose="02040503050406030204" pitchFamily="18" charset="0"/>
                <a:ea typeface="Cambria" panose="02040503050406030204" pitchFamily="18" charset="0"/>
                <a:cs typeface="Calibri" pitchFamily="34" charset="-120"/>
              </a:rPr>
              <a:t>14.5%</a:t>
            </a:r>
            <a:endParaRPr lang="en-US" sz="1250" dirty="0">
              <a:latin typeface="Cambria" panose="02040503050406030204" pitchFamily="18" charset="0"/>
              <a:ea typeface="Cambria" panose="02040503050406030204" pitchFamily="18" charset="0"/>
            </a:endParaRPr>
          </a:p>
        </p:txBody>
      </p:sp>
      <p:sp>
        <p:nvSpPr>
          <p:cNvPr id="15" name="Text 12"/>
          <p:cNvSpPr/>
          <p:nvPr/>
        </p:nvSpPr>
        <p:spPr>
          <a:xfrm>
            <a:off x="822960" y="5623560"/>
            <a:ext cx="2971800" cy="457200"/>
          </a:xfrm>
          <a:prstGeom prst="rect">
            <a:avLst/>
          </a:prstGeom>
          <a:noFill/>
          <a:ln/>
        </p:spPr>
        <p:txBody>
          <a:bodyPr wrap="square" lIns="0" tIns="0" rIns="0" bIns="0" rtlCol="0" anchor="ctr"/>
          <a:lstStyle/>
          <a:p>
            <a:pPr marL="0" indent="0">
              <a:buNone/>
            </a:pPr>
            <a:r>
              <a:rPr lang="en-US" sz="1050" i="1" dirty="0">
                <a:solidFill>
                  <a:srgbClr val="9FAEDD"/>
                </a:solidFill>
                <a:latin typeface="Cambria" panose="02040503050406030204" pitchFamily="18" charset="0"/>
                <a:ea typeface="Cambria" panose="02040503050406030204" pitchFamily="18" charset="0"/>
                <a:cs typeface="Calibri" pitchFamily="34" charset="-120"/>
              </a:rPr>
              <a:t>Combining 2+ of these three flags should isolate a small, high-precision segment carrying a disproportionate share of fraud loss.</a:t>
            </a:r>
            <a:endParaRPr lang="en-US" sz="1050" dirty="0">
              <a:latin typeface="Cambria" panose="02040503050406030204" pitchFamily="18" charset="0"/>
              <a:ea typeface="Cambria" panose="02040503050406030204" pitchFamily="18" charset="0"/>
            </a:endParaRPr>
          </a:p>
        </p:txBody>
      </p:sp>
      <p:sp>
        <p:nvSpPr>
          <p:cNvPr id="16" name="Shape 13"/>
          <p:cNvSpPr/>
          <p:nvPr/>
        </p:nvSpPr>
        <p:spPr>
          <a:xfrm>
            <a:off x="4297680" y="1965960"/>
            <a:ext cx="3520440" cy="4160520"/>
          </a:xfrm>
          <a:prstGeom prst="roundRect">
            <a:avLst>
              <a:gd name="adj" fmla="val 2078"/>
            </a:avLst>
          </a:prstGeom>
          <a:solidFill>
            <a:srgbClr val="273579"/>
          </a:solidFill>
          <a:ln/>
        </p:spPr>
      </p:sp>
      <p:sp>
        <p:nvSpPr>
          <p:cNvPr id="17" name="Shape 14"/>
          <p:cNvSpPr/>
          <p:nvPr/>
        </p:nvSpPr>
        <p:spPr>
          <a:xfrm>
            <a:off x="4572000" y="2240280"/>
            <a:ext cx="548640" cy="548640"/>
          </a:xfrm>
          <a:prstGeom prst="ellipse">
            <a:avLst/>
          </a:prstGeom>
          <a:solidFill>
            <a:srgbClr val="3A47A0"/>
          </a:solidFill>
          <a:ln/>
        </p:spPr>
      </p:sp>
      <p:pic>
        <p:nvPicPr>
          <p:cNvPr id="18" name="Image 1" descr="icons/globe_white.png"/>
          <p:cNvPicPr>
            <a:picLocks noChangeAspect="1"/>
          </p:cNvPicPr>
          <p:nvPr/>
        </p:nvPicPr>
        <p:blipFill>
          <a:blip r:embed="rId4"/>
          <a:stretch>
            <a:fillRect/>
          </a:stretch>
        </p:blipFill>
        <p:spPr>
          <a:xfrm>
            <a:off x="4643323" y="2311603"/>
            <a:ext cx="405994" cy="405994"/>
          </a:xfrm>
          <a:prstGeom prst="rect">
            <a:avLst/>
          </a:prstGeom>
        </p:spPr>
      </p:pic>
      <p:sp>
        <p:nvSpPr>
          <p:cNvPr id="19" name="Text 15"/>
          <p:cNvSpPr/>
          <p:nvPr/>
        </p:nvSpPr>
        <p:spPr>
          <a:xfrm>
            <a:off x="4572000" y="2926080"/>
            <a:ext cx="297180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anose="02040503050406030204" pitchFamily="18" charset="0"/>
                <a:ea typeface="Cambria" panose="02040503050406030204" pitchFamily="18" charset="0"/>
                <a:cs typeface="Cambria" pitchFamily="34" charset="-120"/>
              </a:rPr>
              <a:t>International Flag</a:t>
            </a:r>
            <a:endParaRPr lang="en-US" sz="1600" dirty="0">
              <a:latin typeface="Cambria" panose="02040503050406030204" pitchFamily="18" charset="0"/>
              <a:ea typeface="Cambria" panose="02040503050406030204" pitchFamily="18" charset="0"/>
            </a:endParaRPr>
          </a:p>
        </p:txBody>
      </p:sp>
      <p:sp>
        <p:nvSpPr>
          <p:cNvPr id="20" name="Text 16"/>
          <p:cNvSpPr/>
          <p:nvPr/>
        </p:nvSpPr>
        <p:spPr>
          <a:xfrm>
            <a:off x="4572000" y="3383280"/>
            <a:ext cx="2971800" cy="868680"/>
          </a:xfrm>
          <a:prstGeom prst="rect">
            <a:avLst/>
          </a:prstGeom>
          <a:noFill/>
          <a:ln/>
        </p:spPr>
        <p:txBody>
          <a:bodyPr wrap="square" lIns="0" tIns="0" rIns="0" bIns="0" rtlCol="0" anchor="ctr"/>
          <a:lstStyle/>
          <a:p>
            <a:pPr marL="0" indent="0">
              <a:buNone/>
            </a:pPr>
            <a:r>
              <a:rPr lang="en-US" sz="4000" b="1" dirty="0">
                <a:solidFill>
                  <a:srgbClr val="FF8A80"/>
                </a:solidFill>
                <a:latin typeface="Cambria" panose="02040503050406030204" pitchFamily="18" charset="0"/>
                <a:ea typeface="Cambria" panose="02040503050406030204" pitchFamily="18" charset="0"/>
                <a:cs typeface="Cambria" pitchFamily="34" charset="-120"/>
              </a:rPr>
              <a:t>2.1</a:t>
            </a:r>
            <a:endParaRPr lang="en-US" sz="4000" dirty="0">
              <a:latin typeface="Cambria" panose="02040503050406030204" pitchFamily="18" charset="0"/>
              <a:ea typeface="Cambria" panose="02040503050406030204" pitchFamily="18" charset="0"/>
            </a:endParaRPr>
          </a:p>
        </p:txBody>
      </p:sp>
      <p:sp>
        <p:nvSpPr>
          <p:cNvPr id="21" name="Text 17"/>
          <p:cNvSpPr/>
          <p:nvPr/>
        </p:nvSpPr>
        <p:spPr>
          <a:xfrm>
            <a:off x="4572000" y="4206240"/>
            <a:ext cx="2971800" cy="320040"/>
          </a:xfrm>
          <a:prstGeom prst="rect">
            <a:avLst/>
          </a:prstGeom>
          <a:noFill/>
          <a:ln/>
        </p:spPr>
        <p:txBody>
          <a:bodyPr wrap="square" lIns="0" tIns="0" rIns="0" bIns="0" rtlCol="0" anchor="ctr"/>
          <a:lstStyle/>
          <a:p>
            <a:pPr marL="0" indent="0">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higher fraud rate</a:t>
            </a:r>
            <a:endParaRPr lang="en-US" sz="1200" dirty="0">
              <a:latin typeface="Cambria" panose="02040503050406030204" pitchFamily="18" charset="0"/>
              <a:ea typeface="Cambria" panose="02040503050406030204" pitchFamily="18" charset="0"/>
            </a:endParaRPr>
          </a:p>
        </p:txBody>
      </p:sp>
      <p:sp>
        <p:nvSpPr>
          <p:cNvPr id="22" name="Shape 18"/>
          <p:cNvSpPr/>
          <p:nvPr/>
        </p:nvSpPr>
        <p:spPr>
          <a:xfrm>
            <a:off x="4572000" y="4663440"/>
            <a:ext cx="2971800" cy="0"/>
          </a:xfrm>
          <a:prstGeom prst="line">
            <a:avLst/>
          </a:prstGeom>
          <a:noFill/>
          <a:ln w="12700">
            <a:solidFill>
              <a:srgbClr val="3E4A8C"/>
            </a:solidFill>
            <a:prstDash val="solid"/>
          </a:ln>
        </p:spPr>
      </p:sp>
      <p:sp>
        <p:nvSpPr>
          <p:cNvPr id="23" name="Text 19"/>
          <p:cNvSpPr/>
          <p:nvPr/>
        </p:nvSpPr>
        <p:spPr>
          <a:xfrm>
            <a:off x="4572000" y="4800600"/>
            <a:ext cx="2971800" cy="365760"/>
          </a:xfrm>
          <a:prstGeom prst="rect">
            <a:avLst/>
          </a:prstGeom>
          <a:noFill/>
          <a:ln/>
        </p:spPr>
        <p:txBody>
          <a:bodyPr wrap="square" lIns="0" tIns="0" rIns="0" bIns="0" rtlCol="0" anchor="ctr"/>
          <a:lstStyle/>
          <a:p>
            <a:pPr marL="0" indent="0">
              <a:buNone/>
            </a:pPr>
            <a:r>
              <a:rPr lang="en-US" sz="1250" dirty="0">
                <a:solidFill>
                  <a:srgbClr val="AEB9E6"/>
                </a:solidFill>
                <a:latin typeface="Cambria" panose="02040503050406030204" pitchFamily="18" charset="0"/>
                <a:ea typeface="Cambria" panose="02040503050406030204" pitchFamily="18" charset="0"/>
                <a:cs typeface="Calibri" pitchFamily="34" charset="-120"/>
              </a:rPr>
              <a:t>Local transaction  </a:t>
            </a:r>
            <a:r>
              <a:rPr lang="en-US" sz="1250" b="1" dirty="0">
                <a:solidFill>
                  <a:srgbClr val="FFFFFF"/>
                </a:solidFill>
                <a:latin typeface="Cambria" panose="02040503050406030204" pitchFamily="18" charset="0"/>
                <a:ea typeface="Cambria" panose="02040503050406030204" pitchFamily="18" charset="0"/>
                <a:cs typeface="Calibri" pitchFamily="34" charset="-120"/>
              </a:rPr>
              <a:t>4.8%</a:t>
            </a:r>
            <a:endParaRPr lang="en-US" sz="1250" dirty="0">
              <a:latin typeface="Cambria" panose="02040503050406030204" pitchFamily="18" charset="0"/>
              <a:ea typeface="Cambria" panose="02040503050406030204" pitchFamily="18" charset="0"/>
            </a:endParaRPr>
          </a:p>
        </p:txBody>
      </p:sp>
      <p:sp>
        <p:nvSpPr>
          <p:cNvPr id="24" name="Text 20"/>
          <p:cNvSpPr/>
          <p:nvPr/>
        </p:nvSpPr>
        <p:spPr>
          <a:xfrm>
            <a:off x="4572000" y="5212080"/>
            <a:ext cx="2971800" cy="365760"/>
          </a:xfrm>
          <a:prstGeom prst="rect">
            <a:avLst/>
          </a:prstGeom>
          <a:noFill/>
          <a:ln/>
        </p:spPr>
        <p:txBody>
          <a:bodyPr wrap="square" lIns="0" tIns="0" rIns="0" bIns="0" rtlCol="0" anchor="ctr"/>
          <a:lstStyle/>
          <a:p>
            <a:pPr marL="0" indent="0">
              <a:buNone/>
            </a:pPr>
            <a:r>
              <a:rPr lang="en-US" sz="1250" dirty="0">
                <a:solidFill>
                  <a:srgbClr val="AEB9E6"/>
                </a:solidFill>
                <a:latin typeface="Cambria" panose="02040503050406030204" pitchFamily="18" charset="0"/>
                <a:ea typeface="Cambria" panose="02040503050406030204" pitchFamily="18" charset="0"/>
                <a:cs typeface="Calibri" pitchFamily="34" charset="-120"/>
              </a:rPr>
              <a:t>International  </a:t>
            </a:r>
            <a:r>
              <a:rPr lang="en-US" sz="1250" b="1" dirty="0">
                <a:solidFill>
                  <a:srgbClr val="FF8A80"/>
                </a:solidFill>
                <a:latin typeface="Cambria" panose="02040503050406030204" pitchFamily="18" charset="0"/>
                <a:ea typeface="Cambria" panose="02040503050406030204" pitchFamily="18" charset="0"/>
                <a:cs typeface="Calibri" pitchFamily="34" charset="-120"/>
              </a:rPr>
              <a:t>9.9%</a:t>
            </a:r>
            <a:endParaRPr lang="en-US" sz="1250" dirty="0">
              <a:latin typeface="Cambria" panose="02040503050406030204" pitchFamily="18" charset="0"/>
              <a:ea typeface="Cambria" panose="02040503050406030204" pitchFamily="18" charset="0"/>
            </a:endParaRPr>
          </a:p>
        </p:txBody>
      </p:sp>
      <p:sp>
        <p:nvSpPr>
          <p:cNvPr id="25" name="Text 21"/>
          <p:cNvSpPr/>
          <p:nvPr/>
        </p:nvSpPr>
        <p:spPr>
          <a:xfrm>
            <a:off x="4572000" y="5623560"/>
            <a:ext cx="2971800" cy="457200"/>
          </a:xfrm>
          <a:prstGeom prst="rect">
            <a:avLst/>
          </a:prstGeom>
          <a:noFill/>
          <a:ln/>
        </p:spPr>
        <p:txBody>
          <a:bodyPr wrap="square" lIns="0" tIns="0" rIns="0" bIns="0" rtlCol="0" anchor="ctr"/>
          <a:lstStyle/>
          <a:p>
            <a:pPr marL="0" indent="0">
              <a:buNone/>
            </a:pPr>
            <a:r>
              <a:rPr lang="en-US" sz="1050" i="1" dirty="0">
                <a:solidFill>
                  <a:srgbClr val="9FAEDD"/>
                </a:solidFill>
                <a:latin typeface="Cambria" panose="02040503050406030204" pitchFamily="18" charset="0"/>
                <a:ea typeface="Cambria" panose="02040503050406030204" pitchFamily="18" charset="0"/>
                <a:cs typeface="Calibri" pitchFamily="34" charset="-120"/>
              </a:rPr>
              <a:t>Combining 2+ of these three flags should isolate a small, high-precision segment carrying a disproportionate share of fraud loss.</a:t>
            </a:r>
            <a:endParaRPr lang="en-US" sz="1050" dirty="0">
              <a:latin typeface="Cambria" panose="02040503050406030204" pitchFamily="18" charset="0"/>
              <a:ea typeface="Cambria" panose="02040503050406030204" pitchFamily="18" charset="0"/>
            </a:endParaRPr>
          </a:p>
        </p:txBody>
      </p:sp>
      <p:sp>
        <p:nvSpPr>
          <p:cNvPr id="26" name="Shape 22"/>
          <p:cNvSpPr/>
          <p:nvPr/>
        </p:nvSpPr>
        <p:spPr>
          <a:xfrm>
            <a:off x="8046720" y="1965960"/>
            <a:ext cx="3520440" cy="4160520"/>
          </a:xfrm>
          <a:prstGeom prst="roundRect">
            <a:avLst>
              <a:gd name="adj" fmla="val 2078"/>
            </a:avLst>
          </a:prstGeom>
          <a:solidFill>
            <a:srgbClr val="273579"/>
          </a:solidFill>
          <a:ln/>
        </p:spPr>
      </p:sp>
      <p:sp>
        <p:nvSpPr>
          <p:cNvPr id="27" name="Shape 23"/>
          <p:cNvSpPr/>
          <p:nvPr/>
        </p:nvSpPr>
        <p:spPr>
          <a:xfrm>
            <a:off x="8321040" y="2240280"/>
            <a:ext cx="548640" cy="548640"/>
          </a:xfrm>
          <a:prstGeom prst="ellipse">
            <a:avLst/>
          </a:prstGeom>
          <a:solidFill>
            <a:srgbClr val="3A47A0"/>
          </a:solidFill>
          <a:ln/>
        </p:spPr>
      </p:sp>
      <p:pic>
        <p:nvPicPr>
          <p:cNvPr id="28" name="Image 2" descr="icons/shield_white.png"/>
          <p:cNvPicPr>
            <a:picLocks noChangeAspect="1"/>
          </p:cNvPicPr>
          <p:nvPr/>
        </p:nvPicPr>
        <p:blipFill>
          <a:blip r:embed="rId5"/>
          <a:stretch>
            <a:fillRect/>
          </a:stretch>
        </p:blipFill>
        <p:spPr>
          <a:xfrm>
            <a:off x="8392363" y="2311603"/>
            <a:ext cx="405994" cy="405994"/>
          </a:xfrm>
          <a:prstGeom prst="rect">
            <a:avLst/>
          </a:prstGeom>
        </p:spPr>
      </p:pic>
      <p:sp>
        <p:nvSpPr>
          <p:cNvPr id="29" name="Text 24"/>
          <p:cNvSpPr/>
          <p:nvPr/>
        </p:nvSpPr>
        <p:spPr>
          <a:xfrm>
            <a:off x="8321040" y="2926080"/>
            <a:ext cx="297180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anose="02040503050406030204" pitchFamily="18" charset="0"/>
                <a:ea typeface="Cambria" panose="02040503050406030204" pitchFamily="18" charset="0"/>
                <a:cs typeface="Cambria" pitchFamily="34" charset="-120"/>
              </a:rPr>
              <a:t>Recent PIN Change</a:t>
            </a:r>
            <a:endParaRPr lang="en-US" sz="1600" dirty="0">
              <a:latin typeface="Cambria" panose="02040503050406030204" pitchFamily="18" charset="0"/>
              <a:ea typeface="Cambria" panose="02040503050406030204" pitchFamily="18" charset="0"/>
            </a:endParaRPr>
          </a:p>
        </p:txBody>
      </p:sp>
      <p:sp>
        <p:nvSpPr>
          <p:cNvPr id="30" name="Text 25"/>
          <p:cNvSpPr/>
          <p:nvPr/>
        </p:nvSpPr>
        <p:spPr>
          <a:xfrm>
            <a:off x="8321040" y="3383280"/>
            <a:ext cx="2971800" cy="868680"/>
          </a:xfrm>
          <a:prstGeom prst="rect">
            <a:avLst/>
          </a:prstGeom>
          <a:noFill/>
          <a:ln/>
        </p:spPr>
        <p:txBody>
          <a:bodyPr wrap="square" lIns="0" tIns="0" rIns="0" bIns="0" rtlCol="0" anchor="ctr"/>
          <a:lstStyle/>
          <a:p>
            <a:pPr marL="0" indent="0">
              <a:buNone/>
            </a:pPr>
            <a:r>
              <a:rPr lang="en-US" sz="4000" b="1" dirty="0">
                <a:solidFill>
                  <a:srgbClr val="FF8A80"/>
                </a:solidFill>
                <a:latin typeface="Cambria" panose="02040503050406030204" pitchFamily="18" charset="0"/>
                <a:ea typeface="Cambria" panose="02040503050406030204" pitchFamily="18" charset="0"/>
                <a:cs typeface="Cambria" pitchFamily="34" charset="-120"/>
              </a:rPr>
              <a:t>1.6</a:t>
            </a:r>
            <a:endParaRPr lang="en-US" sz="4000" dirty="0">
              <a:latin typeface="Cambria" panose="02040503050406030204" pitchFamily="18" charset="0"/>
              <a:ea typeface="Cambria" panose="02040503050406030204" pitchFamily="18" charset="0"/>
            </a:endParaRPr>
          </a:p>
        </p:txBody>
      </p:sp>
      <p:sp>
        <p:nvSpPr>
          <p:cNvPr id="31" name="Text 26"/>
          <p:cNvSpPr/>
          <p:nvPr/>
        </p:nvSpPr>
        <p:spPr>
          <a:xfrm>
            <a:off x="8321040" y="4206240"/>
            <a:ext cx="2971800" cy="320040"/>
          </a:xfrm>
          <a:prstGeom prst="rect">
            <a:avLst/>
          </a:prstGeom>
          <a:noFill/>
          <a:ln/>
        </p:spPr>
        <p:txBody>
          <a:bodyPr wrap="square" lIns="0" tIns="0" rIns="0" bIns="0" rtlCol="0" anchor="ctr"/>
          <a:lstStyle/>
          <a:p>
            <a:pPr marL="0" indent="0">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higher fraud rate</a:t>
            </a:r>
            <a:endParaRPr lang="en-US" sz="1200" dirty="0">
              <a:latin typeface="Cambria" panose="02040503050406030204" pitchFamily="18" charset="0"/>
              <a:ea typeface="Cambria" panose="02040503050406030204" pitchFamily="18" charset="0"/>
            </a:endParaRPr>
          </a:p>
        </p:txBody>
      </p:sp>
      <p:sp>
        <p:nvSpPr>
          <p:cNvPr id="32" name="Shape 27"/>
          <p:cNvSpPr/>
          <p:nvPr/>
        </p:nvSpPr>
        <p:spPr>
          <a:xfrm>
            <a:off x="8321040" y="4663440"/>
            <a:ext cx="2971800" cy="0"/>
          </a:xfrm>
          <a:prstGeom prst="line">
            <a:avLst/>
          </a:prstGeom>
          <a:noFill/>
          <a:ln w="12700">
            <a:solidFill>
              <a:srgbClr val="3E4A8C"/>
            </a:solidFill>
            <a:prstDash val="solid"/>
          </a:ln>
        </p:spPr>
      </p:sp>
      <p:sp>
        <p:nvSpPr>
          <p:cNvPr id="33" name="Text 28"/>
          <p:cNvSpPr/>
          <p:nvPr/>
        </p:nvSpPr>
        <p:spPr>
          <a:xfrm>
            <a:off x="8321040" y="4800600"/>
            <a:ext cx="2971800" cy="365760"/>
          </a:xfrm>
          <a:prstGeom prst="rect">
            <a:avLst/>
          </a:prstGeom>
          <a:noFill/>
          <a:ln/>
        </p:spPr>
        <p:txBody>
          <a:bodyPr wrap="square" lIns="0" tIns="0" rIns="0" bIns="0" rtlCol="0" anchor="ctr"/>
          <a:lstStyle/>
          <a:p>
            <a:pPr marL="0" indent="0">
              <a:buNone/>
            </a:pPr>
            <a:r>
              <a:rPr lang="en-US" sz="1250" dirty="0">
                <a:solidFill>
                  <a:srgbClr val="AEB9E6"/>
                </a:solidFill>
                <a:latin typeface="Cambria" panose="02040503050406030204" pitchFamily="18" charset="0"/>
                <a:ea typeface="Cambria" panose="02040503050406030204" pitchFamily="18" charset="0"/>
                <a:cs typeface="Calibri" pitchFamily="34" charset="-120"/>
              </a:rPr>
              <a:t>Established PIN  </a:t>
            </a:r>
            <a:r>
              <a:rPr lang="en-US" sz="1250" b="1" dirty="0">
                <a:solidFill>
                  <a:srgbClr val="FFFFFF"/>
                </a:solidFill>
                <a:latin typeface="Cambria" panose="02040503050406030204" pitchFamily="18" charset="0"/>
                <a:ea typeface="Cambria" panose="02040503050406030204" pitchFamily="18" charset="0"/>
                <a:cs typeface="Calibri" pitchFamily="34" charset="-120"/>
              </a:rPr>
              <a:t>5.3%</a:t>
            </a:r>
            <a:endParaRPr lang="en-US" sz="1250" dirty="0">
              <a:latin typeface="Cambria" panose="02040503050406030204" pitchFamily="18" charset="0"/>
              <a:ea typeface="Cambria" panose="02040503050406030204" pitchFamily="18" charset="0"/>
            </a:endParaRPr>
          </a:p>
        </p:txBody>
      </p:sp>
      <p:sp>
        <p:nvSpPr>
          <p:cNvPr id="34" name="Text 29"/>
          <p:cNvSpPr/>
          <p:nvPr/>
        </p:nvSpPr>
        <p:spPr>
          <a:xfrm>
            <a:off x="8321040" y="5212080"/>
            <a:ext cx="2971800" cy="365760"/>
          </a:xfrm>
          <a:prstGeom prst="rect">
            <a:avLst/>
          </a:prstGeom>
          <a:noFill/>
          <a:ln/>
        </p:spPr>
        <p:txBody>
          <a:bodyPr wrap="square" lIns="0" tIns="0" rIns="0" bIns="0" rtlCol="0" anchor="ctr"/>
          <a:lstStyle/>
          <a:p>
            <a:pPr marL="0" indent="0">
              <a:buNone/>
            </a:pPr>
            <a:r>
              <a:rPr lang="en-US" sz="1250" dirty="0">
                <a:solidFill>
                  <a:srgbClr val="AEB9E6"/>
                </a:solidFill>
                <a:latin typeface="Cambria" panose="02040503050406030204" pitchFamily="18" charset="0"/>
                <a:ea typeface="Cambria" panose="02040503050406030204" pitchFamily="18" charset="0"/>
                <a:cs typeface="Calibri" pitchFamily="34" charset="-120"/>
              </a:rPr>
              <a:t>PIN changed recently  </a:t>
            </a:r>
            <a:r>
              <a:rPr lang="en-US" sz="1250" b="1" dirty="0">
                <a:solidFill>
                  <a:srgbClr val="FF8A80"/>
                </a:solidFill>
                <a:latin typeface="Cambria" panose="02040503050406030204" pitchFamily="18" charset="0"/>
                <a:ea typeface="Cambria" panose="02040503050406030204" pitchFamily="18" charset="0"/>
                <a:cs typeface="Calibri" pitchFamily="34" charset="-120"/>
              </a:rPr>
              <a:t>8.4%</a:t>
            </a:r>
            <a:endParaRPr lang="en-US" sz="1250" dirty="0">
              <a:latin typeface="Cambria" panose="02040503050406030204" pitchFamily="18" charset="0"/>
              <a:ea typeface="Cambria" panose="02040503050406030204" pitchFamily="18" charset="0"/>
            </a:endParaRPr>
          </a:p>
        </p:txBody>
      </p:sp>
      <p:sp>
        <p:nvSpPr>
          <p:cNvPr id="35" name="Text 30"/>
          <p:cNvSpPr/>
          <p:nvPr/>
        </p:nvSpPr>
        <p:spPr>
          <a:xfrm>
            <a:off x="8321040" y="5623560"/>
            <a:ext cx="2971800" cy="457200"/>
          </a:xfrm>
          <a:prstGeom prst="rect">
            <a:avLst/>
          </a:prstGeom>
          <a:noFill/>
          <a:ln/>
        </p:spPr>
        <p:txBody>
          <a:bodyPr wrap="square" lIns="0" tIns="0" rIns="0" bIns="0" rtlCol="0" anchor="ctr"/>
          <a:lstStyle/>
          <a:p>
            <a:pPr marL="0" indent="0">
              <a:buNone/>
            </a:pPr>
            <a:r>
              <a:rPr lang="en-US" sz="1050" i="1" dirty="0">
                <a:solidFill>
                  <a:srgbClr val="9FAEDD"/>
                </a:solidFill>
                <a:latin typeface="Cambria" panose="02040503050406030204" pitchFamily="18" charset="0"/>
                <a:ea typeface="Cambria" panose="02040503050406030204" pitchFamily="18" charset="0"/>
                <a:cs typeface="Calibri" pitchFamily="34" charset="-120"/>
              </a:rPr>
              <a:t>Combining 2+ of these three flags should isolate a small, high-precision segment carrying a disproportionate share of fraud loss.</a:t>
            </a:r>
            <a:endParaRPr lang="en-US" sz="1050" dirty="0">
              <a:latin typeface="Cambria" panose="02040503050406030204" pitchFamily="18" charset="0"/>
              <a:ea typeface="Cambria" panose="02040503050406030204" pitchFamily="18" charset="0"/>
            </a:endParaRPr>
          </a:p>
        </p:txBody>
      </p:sp>
      <p:sp>
        <p:nvSpPr>
          <p:cNvPr id="36" name="Text 31"/>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Bank Fraud Detection Analysis — Executive Report</a:t>
            </a:r>
            <a:endParaRPr lang="en-US" sz="900" dirty="0">
              <a:latin typeface="Cambria" panose="02040503050406030204" pitchFamily="18" charset="0"/>
              <a:ea typeface="Cambria" panose="02040503050406030204" pitchFamily="18" charset="0"/>
            </a:endParaRPr>
          </a:p>
        </p:txBody>
      </p:sp>
      <p:sp>
        <p:nvSpPr>
          <p:cNvPr id="37" name="Text 32"/>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8</a:t>
            </a:r>
            <a:endParaRPr lang="en-US" sz="900"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B3261E"/>
                </a:solidFill>
                <a:latin typeface="Cambria" panose="02040503050406030204" pitchFamily="18" charset="0"/>
                <a:ea typeface="Cambria" panose="02040503050406030204" pitchFamily="18" charset="0"/>
                <a:cs typeface="Calibri" pitchFamily="34" charset="-120"/>
              </a:rPr>
              <a:t>FOOTPRINT</a:t>
            </a:r>
            <a:endParaRPr lang="en-US" sz="1200" dirty="0">
              <a:latin typeface="Cambria" panose="02040503050406030204" pitchFamily="18" charset="0"/>
              <a:ea typeface="Cambria" panose="02040503050406030204" pitchFamily="18" charset="0"/>
            </a:endParaRPr>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2800" b="1" dirty="0">
                <a:solidFill>
                  <a:srgbClr val="1E2761"/>
                </a:solidFill>
                <a:latin typeface="Cambria" panose="02040503050406030204" pitchFamily="18" charset="0"/>
                <a:ea typeface="Cambria" panose="02040503050406030204" pitchFamily="18" charset="0"/>
                <a:cs typeface="Cambria" pitchFamily="34" charset="-120"/>
              </a:rPr>
              <a:t>Global Footprint, Locally Consistent Risk</a:t>
            </a:r>
            <a:endParaRPr lang="en-US" sz="2800" dirty="0">
              <a:latin typeface="Cambria" panose="02040503050406030204" pitchFamily="18" charset="0"/>
              <a:ea typeface="Cambria" panose="02040503050406030204" pitchFamily="18" charset="0"/>
            </a:endParaRPr>
          </a:p>
        </p:txBody>
      </p:sp>
      <p:sp>
        <p:nvSpPr>
          <p:cNvPr id="4" name="Shape 2"/>
          <p:cNvSpPr/>
          <p:nvPr/>
        </p:nvSpPr>
        <p:spPr>
          <a:xfrm>
            <a:off x="548640" y="1417320"/>
            <a:ext cx="6675120" cy="4343400"/>
          </a:xfrm>
          <a:prstGeom prst="roundRect">
            <a:avLst>
              <a:gd name="adj" fmla="val 1263"/>
            </a:avLst>
          </a:prstGeom>
          <a:solidFill>
            <a:srgbClr val="F3F6FC"/>
          </a:solidFill>
          <a:ln/>
        </p:spPr>
      </p:sp>
      <p:sp>
        <p:nvSpPr>
          <p:cNvPr id="5" name="Shape 3"/>
          <p:cNvSpPr/>
          <p:nvPr/>
        </p:nvSpPr>
        <p:spPr>
          <a:xfrm>
            <a:off x="822960" y="1691640"/>
            <a:ext cx="502920" cy="502920"/>
          </a:xfrm>
          <a:prstGeom prst="ellipse">
            <a:avLst/>
          </a:prstGeom>
          <a:solidFill>
            <a:srgbClr val="CADCFC"/>
          </a:solidFill>
          <a:ln/>
        </p:spPr>
      </p:sp>
      <p:pic>
        <p:nvPicPr>
          <p:cNvPr id="6" name="Image 0" descr="icons/map_navy.png"/>
          <p:cNvPicPr>
            <a:picLocks noChangeAspect="1"/>
          </p:cNvPicPr>
          <p:nvPr/>
        </p:nvPicPr>
        <p:blipFill>
          <a:blip r:embed="rId3"/>
          <a:stretch>
            <a:fillRect/>
          </a:stretch>
        </p:blipFill>
        <p:spPr>
          <a:xfrm>
            <a:off x="888340" y="1757020"/>
            <a:ext cx="372161" cy="372161"/>
          </a:xfrm>
          <a:prstGeom prst="rect">
            <a:avLst/>
          </a:prstGeom>
        </p:spPr>
      </p:pic>
      <p:sp>
        <p:nvSpPr>
          <p:cNvPr id="7" name="Text 4"/>
          <p:cNvSpPr/>
          <p:nvPr/>
        </p:nvSpPr>
        <p:spPr>
          <a:xfrm>
            <a:off x="1508760" y="1737360"/>
            <a:ext cx="5486400" cy="640080"/>
          </a:xfrm>
          <a:prstGeom prst="rect">
            <a:avLst/>
          </a:prstGeom>
          <a:noFill/>
          <a:ln/>
        </p:spPr>
        <p:txBody>
          <a:bodyPr wrap="square" rtlCol="0" anchor="ctr"/>
          <a:lstStyle/>
          <a:p>
            <a:pPr marL="0" indent="0">
              <a:buNone/>
            </a:pPr>
            <a:r>
              <a:rPr lang="en-US" sz="1400" b="1" dirty="0">
                <a:solidFill>
                  <a:srgbClr val="1E2761"/>
                </a:solidFill>
                <a:latin typeface="Cambria" panose="02040503050406030204" pitchFamily="18" charset="0"/>
                <a:ea typeface="Cambria" panose="02040503050406030204" pitchFamily="18" charset="0"/>
                <a:cs typeface="Cambria" pitchFamily="34" charset="-120"/>
              </a:rPr>
              <a:t>Transactions span major hubs across every populated continent</a:t>
            </a:r>
            <a:endParaRPr lang="en-US" sz="1400" dirty="0">
              <a:latin typeface="Cambria" panose="02040503050406030204" pitchFamily="18" charset="0"/>
              <a:ea typeface="Cambria" panose="02040503050406030204" pitchFamily="18" charset="0"/>
            </a:endParaRPr>
          </a:p>
        </p:txBody>
      </p:sp>
      <p:sp>
        <p:nvSpPr>
          <p:cNvPr id="8" name="Text 5"/>
          <p:cNvSpPr/>
          <p:nvPr/>
        </p:nvSpPr>
        <p:spPr>
          <a:xfrm>
            <a:off x="1508760" y="2423160"/>
            <a:ext cx="5394960" cy="1737360"/>
          </a:xfrm>
          <a:prstGeom prst="rect">
            <a:avLst/>
          </a:prstGeom>
          <a:noFill/>
          <a:ln/>
        </p:spPr>
        <p:txBody>
          <a:bodyPr wrap="square" rtlCol="0" anchor="t"/>
          <a:lstStyle/>
          <a:p>
            <a:pPr marL="342900" indent="-342900">
              <a:buSzPct val="100000"/>
              <a:buChar char="•"/>
            </a:pPr>
            <a:r>
              <a:rPr lang="en-US" sz="1250" dirty="0">
                <a:solidFill>
                  <a:srgbClr val="2B2F3A"/>
                </a:solidFill>
                <a:latin typeface="Cambria" panose="02040503050406030204" pitchFamily="18" charset="0"/>
                <a:ea typeface="Cambria" panose="02040503050406030204" pitchFamily="18" charset="0"/>
                <a:cs typeface="Calibri" pitchFamily="34" charset="-120"/>
              </a:rPr>
              <a:t>Berlin</a:t>
            </a:r>
            <a:endParaRPr lang="en-US" sz="1250" dirty="0">
              <a:latin typeface="Cambria" panose="02040503050406030204" pitchFamily="18" charset="0"/>
              <a:ea typeface="Cambria" panose="02040503050406030204" pitchFamily="18" charset="0"/>
            </a:endParaRPr>
          </a:p>
          <a:p>
            <a:pPr marL="342900" indent="-342900">
              <a:buSzPct val="100000"/>
              <a:buChar char="•"/>
            </a:pPr>
            <a:r>
              <a:rPr lang="en-US" sz="1250" dirty="0">
                <a:solidFill>
                  <a:srgbClr val="2B2F3A"/>
                </a:solidFill>
                <a:latin typeface="Cambria" panose="02040503050406030204" pitchFamily="18" charset="0"/>
                <a:ea typeface="Cambria" panose="02040503050406030204" pitchFamily="18" charset="0"/>
                <a:cs typeface="Calibri" pitchFamily="34" charset="-120"/>
              </a:rPr>
              <a:t>Delhi</a:t>
            </a:r>
            <a:endParaRPr lang="en-US" sz="1250" dirty="0">
              <a:latin typeface="Cambria" panose="02040503050406030204" pitchFamily="18" charset="0"/>
              <a:ea typeface="Cambria" panose="02040503050406030204" pitchFamily="18" charset="0"/>
            </a:endParaRPr>
          </a:p>
          <a:p>
            <a:pPr marL="342900" indent="-342900">
              <a:buSzPct val="100000"/>
              <a:buChar char="•"/>
            </a:pPr>
            <a:r>
              <a:rPr lang="en-US" sz="1250" dirty="0">
                <a:solidFill>
                  <a:srgbClr val="2B2F3A"/>
                </a:solidFill>
                <a:latin typeface="Cambria" panose="02040503050406030204" pitchFamily="18" charset="0"/>
                <a:ea typeface="Cambria" panose="02040503050406030204" pitchFamily="18" charset="0"/>
                <a:cs typeface="Calibri" pitchFamily="34" charset="-120"/>
              </a:rPr>
              <a:t>Guadalajara</a:t>
            </a:r>
            <a:endParaRPr lang="en-US" sz="1250" dirty="0">
              <a:latin typeface="Cambria" panose="02040503050406030204" pitchFamily="18" charset="0"/>
              <a:ea typeface="Cambria" panose="02040503050406030204" pitchFamily="18" charset="0"/>
            </a:endParaRPr>
          </a:p>
          <a:p>
            <a:pPr marL="342900" indent="-342900">
              <a:buSzPct val="100000"/>
              <a:buChar char="•"/>
            </a:pPr>
            <a:r>
              <a:rPr lang="en-US" sz="1250" dirty="0">
                <a:solidFill>
                  <a:srgbClr val="2B2F3A"/>
                </a:solidFill>
                <a:latin typeface="Cambria" panose="02040503050406030204" pitchFamily="18" charset="0"/>
                <a:ea typeface="Cambria" panose="02040503050406030204" pitchFamily="18" charset="0"/>
                <a:cs typeface="Calibri" pitchFamily="34" charset="-120"/>
              </a:rPr>
              <a:t>London</a:t>
            </a:r>
            <a:endParaRPr lang="en-US" sz="1250" dirty="0">
              <a:latin typeface="Cambria" panose="02040503050406030204" pitchFamily="18" charset="0"/>
              <a:ea typeface="Cambria" panose="02040503050406030204" pitchFamily="18" charset="0"/>
            </a:endParaRPr>
          </a:p>
          <a:p>
            <a:pPr marL="342900" indent="-342900">
              <a:buSzPct val="100000"/>
              <a:buChar char="•"/>
            </a:pPr>
            <a:r>
              <a:rPr lang="en-US" sz="1250" dirty="0">
                <a:solidFill>
                  <a:srgbClr val="2B2F3A"/>
                </a:solidFill>
                <a:latin typeface="Cambria" panose="02040503050406030204" pitchFamily="18" charset="0"/>
                <a:ea typeface="Cambria" panose="02040503050406030204" pitchFamily="18" charset="0"/>
                <a:cs typeface="Calibri" pitchFamily="34" charset="-120"/>
              </a:rPr>
              <a:t>Los Angeles</a:t>
            </a:r>
            <a:endParaRPr lang="en-US" sz="1250" dirty="0">
              <a:latin typeface="Cambria" panose="02040503050406030204" pitchFamily="18" charset="0"/>
              <a:ea typeface="Cambria" panose="02040503050406030204" pitchFamily="18" charset="0"/>
            </a:endParaRPr>
          </a:p>
          <a:p>
            <a:pPr marL="342900" indent="-342900">
              <a:buSzPct val="100000"/>
              <a:buChar char="•"/>
            </a:pPr>
            <a:r>
              <a:rPr lang="en-US" sz="1250" dirty="0">
                <a:solidFill>
                  <a:srgbClr val="2B2F3A"/>
                </a:solidFill>
                <a:latin typeface="Cambria" panose="02040503050406030204" pitchFamily="18" charset="0"/>
                <a:ea typeface="Cambria" panose="02040503050406030204" pitchFamily="18" charset="0"/>
                <a:cs typeface="Calibri" pitchFamily="34" charset="-120"/>
              </a:rPr>
              <a:t>Lyon</a:t>
            </a:r>
            <a:endParaRPr lang="en-US" sz="1250" dirty="0">
              <a:latin typeface="Cambria" panose="02040503050406030204" pitchFamily="18" charset="0"/>
              <a:ea typeface="Cambria" panose="02040503050406030204" pitchFamily="18" charset="0"/>
            </a:endParaRPr>
          </a:p>
          <a:p>
            <a:pPr marL="0" indent="0">
              <a:buNone/>
            </a:pPr>
            <a:r>
              <a:rPr lang="en-US" sz="1250" i="1" dirty="0">
                <a:solidFill>
                  <a:srgbClr val="2B2F3A"/>
                </a:solidFill>
                <a:latin typeface="Cambria" panose="02040503050406030204" pitchFamily="18" charset="0"/>
                <a:ea typeface="Cambria" panose="02040503050406030204" pitchFamily="18" charset="0"/>
                <a:cs typeface="Calibri" pitchFamily="34" charset="-120"/>
              </a:rPr>
              <a:t>+ additional cities across Asia-Pacific, Africa &amp; the Americas</a:t>
            </a:r>
            <a:endParaRPr lang="en-US" sz="1250" dirty="0">
              <a:latin typeface="Cambria" panose="02040503050406030204" pitchFamily="18" charset="0"/>
              <a:ea typeface="Cambria" panose="02040503050406030204" pitchFamily="18" charset="0"/>
            </a:endParaRPr>
          </a:p>
        </p:txBody>
      </p:sp>
      <p:sp>
        <p:nvSpPr>
          <p:cNvPr id="9" name="Text 6"/>
          <p:cNvSpPr/>
          <p:nvPr/>
        </p:nvSpPr>
        <p:spPr>
          <a:xfrm>
            <a:off x="1508760" y="4251960"/>
            <a:ext cx="5029200" cy="320040"/>
          </a:xfrm>
          <a:prstGeom prst="rect">
            <a:avLst/>
          </a:prstGeom>
          <a:noFill/>
          <a:ln/>
        </p:spPr>
        <p:txBody>
          <a:bodyPr wrap="square" rtlCol="0" anchor="ctr"/>
          <a:lstStyle/>
          <a:p>
            <a:pPr marL="0" indent="0">
              <a:buNone/>
            </a:pPr>
            <a:r>
              <a:rPr lang="en-US" sz="1250" b="1" dirty="0">
                <a:solidFill>
                  <a:srgbClr val="1E2761"/>
                </a:solidFill>
                <a:latin typeface="Cambria" panose="02040503050406030204" pitchFamily="18" charset="0"/>
                <a:ea typeface="Cambria" panose="02040503050406030204" pitchFamily="18" charset="0"/>
                <a:cs typeface="Calibri" pitchFamily="34" charset="-120"/>
              </a:rPr>
              <a:t>Fraud Rate by Distance Band</a:t>
            </a:r>
            <a:endParaRPr lang="en-US" sz="1250" dirty="0">
              <a:latin typeface="Cambria" panose="02040503050406030204" pitchFamily="18" charset="0"/>
              <a:ea typeface="Cambria" panose="02040503050406030204" pitchFamily="18" charset="0"/>
            </a:endParaRPr>
          </a:p>
        </p:txBody>
      </p:sp>
      <p:graphicFrame>
        <p:nvGraphicFramePr>
          <p:cNvPr id="10" name="Chart 0"/>
          <p:cNvGraphicFramePr/>
          <p:nvPr>
            <p:extLst>
              <p:ext uri="{D42A27DB-BD31-4B8C-83A1-F6EECF244321}">
                <p14:modId xmlns:p14="http://schemas.microsoft.com/office/powerpoint/2010/main" val="1734145932"/>
              </p:ext>
            </p:extLst>
          </p:nvPr>
        </p:nvGraphicFramePr>
        <p:xfrm>
          <a:off x="1417320" y="4572000"/>
          <a:ext cx="5577840" cy="109728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7452360" y="1417320"/>
            <a:ext cx="4206240" cy="4343400"/>
          </a:xfrm>
          <a:prstGeom prst="roundRect">
            <a:avLst>
              <a:gd name="adj" fmla="val 1304"/>
            </a:avLst>
          </a:prstGeom>
          <a:solidFill>
            <a:srgbClr val="1E2761"/>
          </a:solidFill>
          <a:ln/>
        </p:spPr>
      </p:sp>
      <p:sp>
        <p:nvSpPr>
          <p:cNvPr id="12" name="Shape 8"/>
          <p:cNvSpPr/>
          <p:nvPr/>
        </p:nvSpPr>
        <p:spPr>
          <a:xfrm>
            <a:off x="7726680" y="1691640"/>
            <a:ext cx="502920" cy="502920"/>
          </a:xfrm>
          <a:prstGeom prst="ellipse">
            <a:avLst/>
          </a:prstGeom>
          <a:solidFill>
            <a:srgbClr val="2B3878"/>
          </a:solidFill>
          <a:ln/>
        </p:spPr>
      </p:sp>
      <p:pic>
        <p:nvPicPr>
          <p:cNvPr id="13" name="Image 1" descr="icons/bank_white.png"/>
          <p:cNvPicPr>
            <a:picLocks noChangeAspect="1"/>
          </p:cNvPicPr>
          <p:nvPr/>
        </p:nvPicPr>
        <p:blipFill>
          <a:blip r:embed="rId5"/>
          <a:stretch>
            <a:fillRect/>
          </a:stretch>
        </p:blipFill>
        <p:spPr>
          <a:xfrm>
            <a:off x="7792060" y="1757020"/>
            <a:ext cx="372161" cy="372161"/>
          </a:xfrm>
          <a:prstGeom prst="rect">
            <a:avLst/>
          </a:prstGeom>
        </p:spPr>
      </p:pic>
      <p:sp>
        <p:nvSpPr>
          <p:cNvPr id="14" name="Text 9"/>
          <p:cNvSpPr/>
          <p:nvPr/>
        </p:nvSpPr>
        <p:spPr>
          <a:xfrm>
            <a:off x="8412480" y="1783080"/>
            <a:ext cx="3017520" cy="457200"/>
          </a:xfrm>
          <a:prstGeom prst="rect">
            <a:avLst/>
          </a:prstGeom>
          <a:noFill/>
          <a:ln/>
        </p:spPr>
        <p:txBody>
          <a:bodyPr wrap="square" rtlCol="0" anchor="ctr"/>
          <a:lstStyle/>
          <a:p>
            <a:pPr marL="0" indent="0">
              <a:buNone/>
            </a:pPr>
            <a:r>
              <a:rPr lang="en-US" sz="1500" b="1" dirty="0">
                <a:solidFill>
                  <a:srgbClr val="FFFFFF"/>
                </a:solidFill>
                <a:latin typeface="Cambria" panose="02040503050406030204" pitchFamily="18" charset="0"/>
                <a:ea typeface="Cambria" panose="02040503050406030204" pitchFamily="18" charset="0"/>
                <a:cs typeface="Cambria" pitchFamily="34" charset="-120"/>
              </a:rPr>
              <a:t>What this means</a:t>
            </a:r>
            <a:endParaRPr lang="en-US" sz="1500" dirty="0">
              <a:latin typeface="Cambria" panose="02040503050406030204" pitchFamily="18" charset="0"/>
              <a:ea typeface="Cambria" panose="02040503050406030204" pitchFamily="18" charset="0"/>
            </a:endParaRPr>
          </a:p>
        </p:txBody>
      </p:sp>
      <p:sp>
        <p:nvSpPr>
          <p:cNvPr id="15" name="Text 10"/>
          <p:cNvSpPr/>
          <p:nvPr/>
        </p:nvSpPr>
        <p:spPr>
          <a:xfrm>
            <a:off x="8412480" y="2331720"/>
            <a:ext cx="3017520" cy="3200400"/>
          </a:xfrm>
          <a:prstGeom prst="rect">
            <a:avLst/>
          </a:prstGeom>
          <a:noFill/>
          <a:ln/>
        </p:spPr>
        <p:txBody>
          <a:bodyPr wrap="square" rtlCol="0" anchor="t"/>
          <a:lstStyle/>
          <a:p>
            <a:pPr marL="0" indent="0">
              <a:buNone/>
            </a:pPr>
            <a:r>
              <a:rPr lang="en-US" sz="1250" dirty="0">
                <a:solidFill>
                  <a:srgbClr val="CADCFC"/>
                </a:solidFill>
                <a:latin typeface="Cambria" panose="02040503050406030204" pitchFamily="18" charset="0"/>
                <a:ea typeface="Cambria" panose="02040503050406030204" pitchFamily="18" charset="0"/>
                <a:cs typeface="Calibri" pitchFamily="34" charset="-120"/>
              </a:rPr>
              <a:t>Distance from home location near, moderate, far, or very far barely changes fraud incidence (0.054–0.056). Geography sets the operating footprint, but it isn't where the fraud signal lives. Investigation and channel-level controls should be prioritized by transaction behavior, not by where or how far a transaction occurs.</a:t>
            </a:r>
            <a:endParaRPr lang="en-US" sz="1250" dirty="0">
              <a:latin typeface="Cambria" panose="02040503050406030204" pitchFamily="18" charset="0"/>
              <a:ea typeface="Cambria" panose="02040503050406030204" pitchFamily="18" charset="0"/>
            </a:endParaRPr>
          </a:p>
        </p:txBody>
      </p:sp>
      <p:sp>
        <p:nvSpPr>
          <p:cNvPr id="16" name="Text 11"/>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Bank Fraud Detection Analysis — Executive Report</a:t>
            </a:r>
            <a:endParaRPr lang="en-US" sz="900" dirty="0">
              <a:latin typeface="Cambria" panose="02040503050406030204" pitchFamily="18" charset="0"/>
              <a:ea typeface="Cambria" panose="02040503050406030204" pitchFamily="18" charset="0"/>
            </a:endParaRPr>
          </a:p>
        </p:txBody>
      </p:sp>
      <p:sp>
        <p:nvSpPr>
          <p:cNvPr id="17" name="Text 12"/>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9</a:t>
            </a:r>
            <a:endParaRPr lang="en-US" sz="900"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B3261E"/>
                </a:solidFill>
                <a:latin typeface="Cambria" panose="02040503050406030204" pitchFamily="18" charset="0"/>
                <a:ea typeface="Cambria" panose="02040503050406030204" pitchFamily="18" charset="0"/>
                <a:cs typeface="Calibri" pitchFamily="34" charset="-120"/>
              </a:rPr>
              <a:t>CONCLUSION</a:t>
            </a:r>
            <a:endParaRPr lang="en-US" sz="1200" dirty="0">
              <a:latin typeface="Cambria" panose="02040503050406030204" pitchFamily="18" charset="0"/>
              <a:ea typeface="Cambria" panose="02040503050406030204" pitchFamily="18" charset="0"/>
            </a:endParaRPr>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2800" b="1" dirty="0">
                <a:solidFill>
                  <a:srgbClr val="1E2761"/>
                </a:solidFill>
                <a:latin typeface="Cambria" panose="02040503050406030204" pitchFamily="18" charset="0"/>
                <a:ea typeface="Cambria" panose="02040503050406030204" pitchFamily="18" charset="0"/>
                <a:cs typeface="Cambria" pitchFamily="34" charset="-120"/>
              </a:rPr>
              <a:t>Key Findings &amp; Recommendations</a:t>
            </a:r>
            <a:endParaRPr lang="en-US" sz="2800" dirty="0">
              <a:latin typeface="Cambria" panose="02040503050406030204" pitchFamily="18" charset="0"/>
              <a:ea typeface="Cambria" panose="02040503050406030204" pitchFamily="18" charset="0"/>
            </a:endParaRPr>
          </a:p>
        </p:txBody>
      </p:sp>
      <p:sp>
        <p:nvSpPr>
          <p:cNvPr id="4" name="Shape 2"/>
          <p:cNvSpPr/>
          <p:nvPr/>
        </p:nvSpPr>
        <p:spPr>
          <a:xfrm>
            <a:off x="548640" y="1371600"/>
            <a:ext cx="5440680" cy="4937760"/>
          </a:xfrm>
          <a:prstGeom prst="roundRect">
            <a:avLst>
              <a:gd name="adj" fmla="val 1111"/>
            </a:avLst>
          </a:prstGeom>
          <a:solidFill>
            <a:srgbClr val="F3F6FC"/>
          </a:solidFill>
          <a:ln/>
        </p:spPr>
      </p:sp>
      <p:sp>
        <p:nvSpPr>
          <p:cNvPr id="5" name="Shape 3"/>
          <p:cNvSpPr/>
          <p:nvPr/>
        </p:nvSpPr>
        <p:spPr>
          <a:xfrm>
            <a:off x="822960" y="1627632"/>
            <a:ext cx="457200" cy="457200"/>
          </a:xfrm>
          <a:prstGeom prst="ellipse">
            <a:avLst/>
          </a:prstGeom>
          <a:solidFill>
            <a:srgbClr val="CADCFC"/>
          </a:solidFill>
          <a:ln/>
        </p:spPr>
      </p:sp>
      <p:pic>
        <p:nvPicPr>
          <p:cNvPr id="6" name="Image 0" descr="icons/search_navy.png"/>
          <p:cNvPicPr>
            <a:picLocks noChangeAspect="1"/>
          </p:cNvPicPr>
          <p:nvPr/>
        </p:nvPicPr>
        <p:blipFill>
          <a:blip r:embed="rId3"/>
          <a:stretch>
            <a:fillRect/>
          </a:stretch>
        </p:blipFill>
        <p:spPr>
          <a:xfrm>
            <a:off x="882396" y="1687068"/>
            <a:ext cx="338328" cy="338328"/>
          </a:xfrm>
          <a:prstGeom prst="rect">
            <a:avLst/>
          </a:prstGeom>
        </p:spPr>
      </p:pic>
      <p:sp>
        <p:nvSpPr>
          <p:cNvPr id="7" name="Text 4"/>
          <p:cNvSpPr/>
          <p:nvPr/>
        </p:nvSpPr>
        <p:spPr>
          <a:xfrm>
            <a:off x="1417320" y="1691640"/>
            <a:ext cx="4114800" cy="411480"/>
          </a:xfrm>
          <a:prstGeom prst="rect">
            <a:avLst/>
          </a:prstGeom>
          <a:noFill/>
          <a:ln/>
        </p:spPr>
        <p:txBody>
          <a:bodyPr wrap="square" rtlCol="0" anchor="ctr"/>
          <a:lstStyle/>
          <a:p>
            <a:pPr marL="0" indent="0">
              <a:buNone/>
            </a:pPr>
            <a:r>
              <a:rPr lang="en-US" sz="1600" b="1" dirty="0">
                <a:solidFill>
                  <a:srgbClr val="1E2761"/>
                </a:solidFill>
                <a:latin typeface="Cambria" panose="02040503050406030204" pitchFamily="18" charset="0"/>
                <a:ea typeface="Cambria" panose="02040503050406030204" pitchFamily="18" charset="0"/>
                <a:cs typeface="Cambria" pitchFamily="34" charset="-120"/>
              </a:rPr>
              <a:t>Key Findings</a:t>
            </a:r>
            <a:endParaRPr lang="en-US" sz="1600" dirty="0">
              <a:latin typeface="Cambria" panose="02040503050406030204" pitchFamily="18" charset="0"/>
              <a:ea typeface="Cambria" panose="02040503050406030204" pitchFamily="18" charset="0"/>
            </a:endParaRPr>
          </a:p>
        </p:txBody>
      </p:sp>
      <p:sp>
        <p:nvSpPr>
          <p:cNvPr id="8" name="Text 5"/>
          <p:cNvSpPr/>
          <p:nvPr/>
        </p:nvSpPr>
        <p:spPr>
          <a:xfrm>
            <a:off x="868680" y="2194560"/>
            <a:ext cx="4846320" cy="3931920"/>
          </a:xfrm>
          <a:prstGeom prst="rect">
            <a:avLst/>
          </a:prstGeom>
          <a:noFill/>
          <a:ln/>
        </p:spPr>
        <p:txBody>
          <a:bodyPr wrap="square" rtlCol="0" anchor="t"/>
          <a:lstStyle/>
          <a:p>
            <a:pPr marL="342900" indent="-342900">
              <a:spcAft>
                <a:spcPts val="1100"/>
              </a:spcAft>
              <a:buSzPct val="100000"/>
              <a:buChar char="•"/>
            </a:pPr>
            <a:r>
              <a:rPr lang="en-US" sz="1200" dirty="0">
                <a:solidFill>
                  <a:srgbClr val="2B2F3A"/>
                </a:solidFill>
                <a:latin typeface="Cambria" panose="02040503050406030204" pitchFamily="18" charset="0"/>
                <a:ea typeface="Cambria" panose="02040503050406030204" pitchFamily="18" charset="0"/>
                <a:cs typeface="Calibri" pitchFamily="34" charset="-120"/>
              </a:rPr>
              <a:t>Fraud rate is stable at 6% and has not structurally improved across five years of data.</a:t>
            </a:r>
            <a:endParaRPr lang="en-US" sz="1200" dirty="0">
              <a:latin typeface="Cambria" panose="02040503050406030204" pitchFamily="18" charset="0"/>
              <a:ea typeface="Cambria" panose="02040503050406030204" pitchFamily="18" charset="0"/>
            </a:endParaRPr>
          </a:p>
          <a:p>
            <a:pPr marL="342900" indent="-342900">
              <a:spcAft>
                <a:spcPts val="1100"/>
              </a:spcAft>
              <a:buSzPct val="100000"/>
              <a:buChar char="•"/>
            </a:pPr>
            <a:r>
              <a:rPr lang="en-US" sz="1200" dirty="0">
                <a:solidFill>
                  <a:srgbClr val="2B2F3A"/>
                </a:solidFill>
                <a:latin typeface="Cambria" panose="02040503050406030204" pitchFamily="18" charset="0"/>
                <a:ea typeface="Cambria" panose="02040503050406030204" pitchFamily="18" charset="0"/>
                <a:cs typeface="Calibri" pitchFamily="34" charset="-120"/>
              </a:rPr>
              <a:t>Merchant category is the clearest static risk lens ATM, jewelry, and crypto-exchange run ~9% vs. a ~5% baseline elsewhere.</a:t>
            </a:r>
            <a:endParaRPr lang="en-US" sz="1200" dirty="0">
              <a:latin typeface="Cambria" panose="02040503050406030204" pitchFamily="18" charset="0"/>
              <a:ea typeface="Cambria" panose="02040503050406030204" pitchFamily="18" charset="0"/>
            </a:endParaRPr>
          </a:p>
          <a:p>
            <a:pPr marL="342900" indent="-342900">
              <a:spcAft>
                <a:spcPts val="1100"/>
              </a:spcAft>
              <a:buSzPct val="100000"/>
              <a:buChar char="•"/>
            </a:pPr>
            <a:r>
              <a:rPr lang="en-US" sz="1200" dirty="0">
                <a:solidFill>
                  <a:srgbClr val="2B2F3A"/>
                </a:solidFill>
                <a:latin typeface="Cambria" panose="02040503050406030204" pitchFamily="18" charset="0"/>
                <a:ea typeface="Cambria" panose="02040503050406030204" pitchFamily="18" charset="0"/>
                <a:cs typeface="Calibri" pitchFamily="34" charset="-120"/>
              </a:rPr>
              <a:t>Country, device, and payment method are weak predictors alone, clustered within a single percentage point.</a:t>
            </a:r>
            <a:endParaRPr lang="en-US" sz="1200" dirty="0">
              <a:latin typeface="Cambria" panose="02040503050406030204" pitchFamily="18" charset="0"/>
              <a:ea typeface="Cambria" panose="02040503050406030204" pitchFamily="18" charset="0"/>
            </a:endParaRPr>
          </a:p>
          <a:p>
            <a:pPr marL="342900" indent="-342900">
              <a:spcAft>
                <a:spcPts val="1100"/>
              </a:spcAft>
              <a:buSzPct val="100000"/>
              <a:buChar char="•"/>
            </a:pPr>
            <a:r>
              <a:rPr lang="en-US" sz="1200" dirty="0">
                <a:solidFill>
                  <a:srgbClr val="2B2F3A"/>
                </a:solidFill>
                <a:latin typeface="Cambria" panose="02040503050406030204" pitchFamily="18" charset="0"/>
                <a:ea typeface="Cambria" panose="02040503050406030204" pitchFamily="18" charset="0"/>
                <a:cs typeface="Calibri" pitchFamily="34" charset="-120"/>
              </a:rPr>
              <a:t>Customer profile (credit band, transaction amount) adds only modest lift on its own.</a:t>
            </a:r>
            <a:endParaRPr lang="en-US" sz="1200" dirty="0">
              <a:latin typeface="Cambria" panose="02040503050406030204" pitchFamily="18" charset="0"/>
              <a:ea typeface="Cambria" panose="02040503050406030204" pitchFamily="18" charset="0"/>
            </a:endParaRPr>
          </a:p>
          <a:p>
            <a:pPr marL="342900" indent="-342900">
              <a:spcAft>
                <a:spcPts val="1100"/>
              </a:spcAft>
              <a:buSzPct val="100000"/>
              <a:buChar char="•"/>
            </a:pPr>
            <a:r>
              <a:rPr lang="en-US" sz="1200" dirty="0">
                <a:solidFill>
                  <a:srgbClr val="2B2F3A"/>
                </a:solidFill>
                <a:latin typeface="Cambria" panose="02040503050406030204" pitchFamily="18" charset="0"/>
                <a:ea typeface="Cambria" panose="02040503050406030204" pitchFamily="18" charset="0"/>
                <a:cs typeface="Calibri" pitchFamily="34" charset="-120"/>
              </a:rPr>
              <a:t>Behavioral signals dominate: failed attempts (3.2), international flag (2.1), and recent PIN change (1.6) each sharply raise fraud likelihood.</a:t>
            </a:r>
            <a:endParaRPr lang="en-US" sz="1200" dirty="0">
              <a:latin typeface="Cambria" panose="02040503050406030204" pitchFamily="18" charset="0"/>
              <a:ea typeface="Cambria" panose="02040503050406030204" pitchFamily="18" charset="0"/>
            </a:endParaRPr>
          </a:p>
          <a:p>
            <a:pPr marL="342900" indent="-342900">
              <a:spcAft>
                <a:spcPts val="1100"/>
              </a:spcAft>
              <a:buSzPct val="100000"/>
              <a:buChar char="•"/>
            </a:pPr>
            <a:r>
              <a:rPr lang="en-US" sz="1200" dirty="0">
                <a:solidFill>
                  <a:srgbClr val="2B2F3A"/>
                </a:solidFill>
                <a:latin typeface="Cambria" panose="02040503050406030204" pitchFamily="18" charset="0"/>
                <a:ea typeface="Cambria" panose="02040503050406030204" pitchFamily="18" charset="0"/>
                <a:cs typeface="Calibri" pitchFamily="34" charset="-120"/>
              </a:rPr>
              <a:t>Fraud concentrates overnight (22:00–06:00), roughly double the daytime rate; day-of-week has little effect.</a:t>
            </a:r>
            <a:endParaRPr lang="en-US" sz="1200" dirty="0">
              <a:latin typeface="Cambria" panose="02040503050406030204" pitchFamily="18" charset="0"/>
              <a:ea typeface="Cambria" panose="02040503050406030204" pitchFamily="18" charset="0"/>
            </a:endParaRPr>
          </a:p>
        </p:txBody>
      </p:sp>
      <p:sp>
        <p:nvSpPr>
          <p:cNvPr id="9" name="Shape 6"/>
          <p:cNvSpPr/>
          <p:nvPr/>
        </p:nvSpPr>
        <p:spPr>
          <a:xfrm>
            <a:off x="6172200" y="1371600"/>
            <a:ext cx="5440680" cy="4937760"/>
          </a:xfrm>
          <a:prstGeom prst="roundRect">
            <a:avLst>
              <a:gd name="adj" fmla="val 1111"/>
            </a:avLst>
          </a:prstGeom>
          <a:solidFill>
            <a:srgbClr val="1E2761"/>
          </a:solidFill>
          <a:ln/>
        </p:spPr>
      </p:sp>
      <p:sp>
        <p:nvSpPr>
          <p:cNvPr id="10" name="Shape 7"/>
          <p:cNvSpPr/>
          <p:nvPr/>
        </p:nvSpPr>
        <p:spPr>
          <a:xfrm>
            <a:off x="6446520" y="1627632"/>
            <a:ext cx="457200" cy="457200"/>
          </a:xfrm>
          <a:prstGeom prst="ellipse">
            <a:avLst/>
          </a:prstGeom>
          <a:solidFill>
            <a:srgbClr val="2B3878"/>
          </a:solidFill>
          <a:ln/>
        </p:spPr>
      </p:sp>
      <p:pic>
        <p:nvPicPr>
          <p:cNvPr id="11" name="Image 1" descr="icons/bulb_white.png"/>
          <p:cNvPicPr>
            <a:picLocks noChangeAspect="1"/>
          </p:cNvPicPr>
          <p:nvPr/>
        </p:nvPicPr>
        <p:blipFill>
          <a:blip r:embed="rId4"/>
          <a:stretch>
            <a:fillRect/>
          </a:stretch>
        </p:blipFill>
        <p:spPr>
          <a:xfrm>
            <a:off x="6505956" y="1687068"/>
            <a:ext cx="338328" cy="338328"/>
          </a:xfrm>
          <a:prstGeom prst="rect">
            <a:avLst/>
          </a:prstGeom>
        </p:spPr>
      </p:pic>
      <p:sp>
        <p:nvSpPr>
          <p:cNvPr id="12" name="Text 8"/>
          <p:cNvSpPr/>
          <p:nvPr/>
        </p:nvSpPr>
        <p:spPr>
          <a:xfrm>
            <a:off x="7040880" y="1691640"/>
            <a:ext cx="4114800" cy="411480"/>
          </a:xfrm>
          <a:prstGeom prst="rect">
            <a:avLst/>
          </a:prstGeom>
          <a:noFill/>
          <a:ln/>
        </p:spPr>
        <p:txBody>
          <a:bodyPr wrap="square" rtlCol="0" anchor="ctr"/>
          <a:lstStyle/>
          <a:p>
            <a:pPr marL="0" indent="0">
              <a:buNone/>
            </a:pPr>
            <a:r>
              <a:rPr lang="en-US" sz="1600" b="1" dirty="0">
                <a:solidFill>
                  <a:srgbClr val="FFFFFF"/>
                </a:solidFill>
                <a:latin typeface="Cambria" panose="02040503050406030204" pitchFamily="18" charset="0"/>
                <a:ea typeface="Cambria" panose="02040503050406030204" pitchFamily="18" charset="0"/>
                <a:cs typeface="Cambria" pitchFamily="34" charset="-120"/>
              </a:rPr>
              <a:t>Recommendations</a:t>
            </a:r>
            <a:endParaRPr lang="en-US" sz="1600" dirty="0">
              <a:latin typeface="Cambria" panose="02040503050406030204" pitchFamily="18" charset="0"/>
              <a:ea typeface="Cambria" panose="02040503050406030204" pitchFamily="18" charset="0"/>
            </a:endParaRPr>
          </a:p>
        </p:txBody>
      </p:sp>
      <p:sp>
        <p:nvSpPr>
          <p:cNvPr id="13" name="Text 9"/>
          <p:cNvSpPr/>
          <p:nvPr/>
        </p:nvSpPr>
        <p:spPr>
          <a:xfrm>
            <a:off x="6492240" y="2194560"/>
            <a:ext cx="4846320" cy="3931920"/>
          </a:xfrm>
          <a:prstGeom prst="rect">
            <a:avLst/>
          </a:prstGeom>
          <a:noFill/>
          <a:ln/>
        </p:spPr>
        <p:txBody>
          <a:bodyPr wrap="square" rtlCol="0" anchor="t"/>
          <a:lstStyle/>
          <a:p>
            <a:pPr marL="342900" indent="-342900">
              <a:spcAft>
                <a:spcPts val="1100"/>
              </a:spcAft>
              <a:buSzPct val="100000"/>
              <a:buChar char="•"/>
            </a:pPr>
            <a:r>
              <a:rPr lang="en-US" sz="1200" dirty="0">
                <a:solidFill>
                  <a:srgbClr val="CADCFC"/>
                </a:solidFill>
                <a:latin typeface="Cambria" panose="02040503050406030204" pitchFamily="18" charset="0"/>
                <a:ea typeface="Cambria" panose="02040503050406030204" pitchFamily="18" charset="0"/>
                <a:cs typeface="Calibri" pitchFamily="34" charset="-120"/>
              </a:rPr>
              <a:t>Re-weight real-time scoring toward behavioral signals (failed attempts, PIN-change recency, international flag, hour of day) over static demographic rules.</a:t>
            </a:r>
            <a:endParaRPr lang="en-US" sz="1200" dirty="0">
              <a:latin typeface="Cambria" panose="02040503050406030204" pitchFamily="18" charset="0"/>
              <a:ea typeface="Cambria" panose="02040503050406030204" pitchFamily="18" charset="0"/>
            </a:endParaRPr>
          </a:p>
          <a:p>
            <a:pPr marL="342900" indent="-342900">
              <a:spcAft>
                <a:spcPts val="1100"/>
              </a:spcAft>
              <a:buSzPct val="100000"/>
              <a:buChar char="•"/>
            </a:pPr>
            <a:r>
              <a:rPr lang="en-US" sz="1200" dirty="0">
                <a:solidFill>
                  <a:srgbClr val="CADCFC"/>
                </a:solidFill>
                <a:latin typeface="Cambria" panose="02040503050406030204" pitchFamily="18" charset="0"/>
                <a:ea typeface="Cambria" panose="02040503050406030204" pitchFamily="18" charset="0"/>
                <a:cs typeface="Calibri" pitchFamily="34" charset="-120"/>
              </a:rPr>
              <a:t>Trigger automatic step-up authentication for international transactions, 2+ failed attempts, or activity within 48h of a PIN change.</a:t>
            </a:r>
            <a:endParaRPr lang="en-US" sz="1200" dirty="0">
              <a:latin typeface="Cambria" panose="02040503050406030204" pitchFamily="18" charset="0"/>
              <a:ea typeface="Cambria" panose="02040503050406030204" pitchFamily="18" charset="0"/>
            </a:endParaRPr>
          </a:p>
          <a:p>
            <a:pPr marL="342900" indent="-342900">
              <a:spcAft>
                <a:spcPts val="1100"/>
              </a:spcAft>
              <a:buSzPct val="100000"/>
              <a:buChar char="•"/>
            </a:pPr>
            <a:r>
              <a:rPr lang="en-US" sz="1200" dirty="0">
                <a:solidFill>
                  <a:srgbClr val="CADCFC"/>
                </a:solidFill>
                <a:latin typeface="Cambria" panose="02040503050406030204" pitchFamily="18" charset="0"/>
                <a:ea typeface="Cambria" panose="02040503050406030204" pitchFamily="18" charset="0"/>
                <a:cs typeface="Calibri" pitchFamily="34" charset="-120"/>
              </a:rPr>
              <a:t>Apply category-specific velocity limits and faster manual review for ATM withdrawals, jewelry, and crypto-exchange merchants.</a:t>
            </a:r>
            <a:endParaRPr lang="en-US" sz="1200" dirty="0">
              <a:latin typeface="Cambria" panose="02040503050406030204" pitchFamily="18" charset="0"/>
              <a:ea typeface="Cambria" panose="02040503050406030204" pitchFamily="18" charset="0"/>
            </a:endParaRPr>
          </a:p>
          <a:p>
            <a:pPr marL="342900" indent="-342900">
              <a:spcAft>
                <a:spcPts val="1100"/>
              </a:spcAft>
              <a:buSzPct val="100000"/>
              <a:buChar char="•"/>
            </a:pPr>
            <a:r>
              <a:rPr lang="en-US" sz="1200" dirty="0">
                <a:solidFill>
                  <a:srgbClr val="CADCFC"/>
                </a:solidFill>
                <a:latin typeface="Cambria" panose="02040503050406030204" pitchFamily="18" charset="0"/>
                <a:ea typeface="Cambria" panose="02040503050406030204" pitchFamily="18" charset="0"/>
                <a:cs typeface="Calibri" pitchFamily="34" charset="-120"/>
              </a:rPr>
              <a:t>Tighten monitoring during the 22:00–06:00 window given its roughly 2× fraud rate versus daytime.</a:t>
            </a:r>
            <a:endParaRPr lang="en-US" sz="1200" dirty="0">
              <a:latin typeface="Cambria" panose="02040503050406030204" pitchFamily="18" charset="0"/>
              <a:ea typeface="Cambria" panose="02040503050406030204" pitchFamily="18" charset="0"/>
            </a:endParaRPr>
          </a:p>
          <a:p>
            <a:pPr marL="342900" indent="-342900">
              <a:spcAft>
                <a:spcPts val="1100"/>
              </a:spcAft>
              <a:buSzPct val="100000"/>
              <a:buChar char="•"/>
            </a:pPr>
            <a:r>
              <a:rPr lang="en-US" sz="1200" dirty="0">
                <a:solidFill>
                  <a:srgbClr val="CADCFC"/>
                </a:solidFill>
                <a:latin typeface="Cambria" panose="02040503050406030204" pitchFamily="18" charset="0"/>
                <a:ea typeface="Cambria" panose="02040503050406030204" pitchFamily="18" charset="0"/>
                <a:cs typeface="Calibri" pitchFamily="34" charset="-120"/>
              </a:rPr>
              <a:t>Reduce rule weight on country/device alone; reallocate toward the behavioral-flag combinations shown to carry the most lift.</a:t>
            </a:r>
            <a:endParaRPr lang="en-US" sz="1200" dirty="0">
              <a:latin typeface="Cambria" panose="02040503050406030204" pitchFamily="18" charset="0"/>
              <a:ea typeface="Cambria" panose="02040503050406030204" pitchFamily="18" charset="0"/>
            </a:endParaRPr>
          </a:p>
          <a:p>
            <a:pPr marL="342900" indent="-342900">
              <a:spcAft>
                <a:spcPts val="1100"/>
              </a:spcAft>
              <a:buSzPct val="100000"/>
              <a:buChar char="•"/>
            </a:pPr>
            <a:r>
              <a:rPr lang="en-US" sz="1200" dirty="0">
                <a:solidFill>
                  <a:srgbClr val="CADCFC"/>
                </a:solidFill>
                <a:latin typeface="Cambria" panose="02040503050406030204" pitchFamily="18" charset="0"/>
                <a:ea typeface="Cambria" panose="02040503050406030204" pitchFamily="18" charset="0"/>
                <a:cs typeface="Calibri" pitchFamily="34" charset="-120"/>
              </a:rPr>
              <a:t>Pilot a combined behavioral-flag score for one quarter and measure fraud-catch-rate improvement before wider rollout.</a:t>
            </a:r>
            <a:endParaRPr lang="en-US" sz="1200" dirty="0">
              <a:latin typeface="Cambria" panose="02040503050406030204" pitchFamily="18" charset="0"/>
              <a:ea typeface="Cambria" panose="02040503050406030204" pitchFamily="18" charset="0"/>
            </a:endParaRPr>
          </a:p>
        </p:txBody>
      </p:sp>
      <p:sp>
        <p:nvSpPr>
          <p:cNvPr id="14" name="Text 10"/>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Bank Fraud Detection </a:t>
            </a:r>
            <a:r>
              <a:rPr lang="en-US" sz="900" dirty="0">
                <a:solidFill>
                  <a:srgbClr val="5B6472"/>
                </a:solidFill>
                <a:latin typeface="Cambria" panose="02040503050406030204" pitchFamily="18" charset="0"/>
                <a:ea typeface="Cambria" panose="02040503050406030204" pitchFamily="18" charset="0"/>
                <a:cs typeface="Calibri" pitchFamily="34" charset="-120"/>
              </a:rPr>
              <a:t>Analysis</a:t>
            </a:r>
            <a:r>
              <a:rPr lang="en-US" sz="900" dirty="0">
                <a:solidFill>
                  <a:srgbClr val="5B6472"/>
                </a:solidFill>
                <a:latin typeface="Calibri" pitchFamily="34" charset="0"/>
                <a:ea typeface="Calibri" pitchFamily="34" charset="-122"/>
                <a:cs typeface="Calibri" pitchFamily="34" charset="-120"/>
              </a:rPr>
              <a:t> — Executive Report</a:t>
            </a:r>
            <a:endParaRPr lang="en-US" sz="900" dirty="0"/>
          </a:p>
        </p:txBody>
      </p:sp>
      <p:sp>
        <p:nvSpPr>
          <p:cNvPr id="15" name="Text 11"/>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B6472"/>
                </a:solidFill>
                <a:latin typeface="Cambria" panose="02040503050406030204" pitchFamily="18" charset="0"/>
                <a:ea typeface="Cambria" panose="02040503050406030204" pitchFamily="18" charset="0"/>
                <a:cs typeface="Calibri" pitchFamily="34" charset="-120"/>
              </a:rPr>
              <a:t>10</a:t>
            </a:r>
            <a:endParaRPr lang="en-US" sz="900"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47"/>
        </a:solidFill>
        <a:effectLst/>
      </p:bgPr>
    </p:bg>
    <p:spTree>
      <p:nvGrpSpPr>
        <p:cNvPr id="1" name=""/>
        <p:cNvGrpSpPr/>
        <p:nvPr/>
      </p:nvGrpSpPr>
      <p:grpSpPr>
        <a:xfrm>
          <a:off x="0" y="0"/>
          <a:ext cx="0" cy="0"/>
          <a:chOff x="0" y="0"/>
          <a:chExt cx="0" cy="0"/>
        </a:xfrm>
      </p:grpSpPr>
      <p:sp>
        <p:nvSpPr>
          <p:cNvPr id="2" name="Shape 0"/>
          <p:cNvSpPr/>
          <p:nvPr/>
        </p:nvSpPr>
        <p:spPr>
          <a:xfrm>
            <a:off x="-2743200" y="-2743200"/>
            <a:ext cx="6400800" cy="6400800"/>
          </a:xfrm>
          <a:prstGeom prst="ellipse">
            <a:avLst/>
          </a:prstGeom>
          <a:solidFill>
            <a:srgbClr val="1E2761"/>
          </a:solidFill>
          <a:ln/>
        </p:spPr>
      </p:sp>
      <p:sp>
        <p:nvSpPr>
          <p:cNvPr id="3" name="Shape 1"/>
          <p:cNvSpPr/>
          <p:nvPr/>
        </p:nvSpPr>
        <p:spPr>
          <a:xfrm>
            <a:off x="9144000" y="3200400"/>
            <a:ext cx="5486400" cy="5486400"/>
          </a:xfrm>
          <a:prstGeom prst="ellipse">
            <a:avLst/>
          </a:prstGeom>
          <a:solidFill>
            <a:srgbClr val="273579"/>
          </a:solidFill>
          <a:ln/>
        </p:spPr>
      </p:sp>
      <p:sp>
        <p:nvSpPr>
          <p:cNvPr id="4" name="Shape 2"/>
          <p:cNvSpPr/>
          <p:nvPr/>
        </p:nvSpPr>
        <p:spPr>
          <a:xfrm>
            <a:off x="5684368" y="2148840"/>
            <a:ext cx="822960" cy="822960"/>
          </a:xfrm>
          <a:prstGeom prst="ellipse">
            <a:avLst/>
          </a:prstGeom>
          <a:solidFill>
            <a:srgbClr val="2B3878"/>
          </a:solidFill>
          <a:ln/>
        </p:spPr>
      </p:sp>
      <p:pic>
        <p:nvPicPr>
          <p:cNvPr id="5" name="Image 0" descr="icons/shield_white.png"/>
          <p:cNvPicPr>
            <a:picLocks noChangeAspect="1"/>
          </p:cNvPicPr>
          <p:nvPr/>
        </p:nvPicPr>
        <p:blipFill>
          <a:blip r:embed="rId3"/>
          <a:stretch>
            <a:fillRect/>
          </a:stretch>
        </p:blipFill>
        <p:spPr>
          <a:xfrm>
            <a:off x="5791352" y="2255825"/>
            <a:ext cx="608990" cy="608990"/>
          </a:xfrm>
          <a:prstGeom prst="rect">
            <a:avLst/>
          </a:prstGeom>
        </p:spPr>
      </p:pic>
      <p:sp>
        <p:nvSpPr>
          <p:cNvPr id="6" name="Text 3"/>
          <p:cNvSpPr/>
          <p:nvPr/>
        </p:nvSpPr>
        <p:spPr>
          <a:xfrm>
            <a:off x="0" y="3246120"/>
            <a:ext cx="12191695" cy="82296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Thank You</a:t>
            </a:r>
            <a:endParaRPr lang="en-US" sz="3600" dirty="0"/>
          </a:p>
        </p:txBody>
      </p:sp>
      <p:sp>
        <p:nvSpPr>
          <p:cNvPr id="7" name="Text 4"/>
          <p:cNvSpPr/>
          <p:nvPr/>
        </p:nvSpPr>
        <p:spPr>
          <a:xfrm>
            <a:off x="0" y="3977640"/>
            <a:ext cx="12191695" cy="457200"/>
          </a:xfrm>
          <a:prstGeom prst="rect">
            <a:avLst/>
          </a:prstGeom>
          <a:noFill/>
          <a:ln/>
        </p:spPr>
        <p:txBody>
          <a:bodyPr wrap="square" rtlCol="0" anchor="ctr"/>
          <a:lstStyle/>
          <a:p>
            <a:pPr marL="0" indent="0" algn="ctr">
              <a:buNone/>
            </a:pPr>
            <a:r>
              <a:rPr lang="en-US" sz="1400" i="1" dirty="0">
                <a:solidFill>
                  <a:srgbClr val="CADCFC"/>
                </a:solidFill>
                <a:latin typeface="Cambria" panose="02040503050406030204" pitchFamily="18" charset="0"/>
                <a:ea typeface="Cambria" panose="02040503050406030204" pitchFamily="18" charset="0"/>
                <a:cs typeface="Calibri" pitchFamily="34" charset="-120"/>
              </a:rPr>
              <a:t>Questions</a:t>
            </a:r>
            <a:r>
              <a:rPr lang="en-US" sz="1400" i="1" dirty="0">
                <a:solidFill>
                  <a:srgbClr val="CADCFC"/>
                </a:solidFill>
                <a:latin typeface="Calibri" pitchFamily="34" charset="0"/>
                <a:ea typeface="Calibri" pitchFamily="34" charset="-122"/>
                <a:cs typeface="Calibri" pitchFamily="34" charset="-120"/>
              </a:rPr>
              <a:t> and follow-up analysis available on request.</a:t>
            </a:r>
            <a:endParaRPr lang="en-US" sz="1400" dirty="0"/>
          </a:p>
        </p:txBody>
      </p:sp>
      <p:sp>
        <p:nvSpPr>
          <p:cNvPr id="8" name="Text 5"/>
          <p:cNvSpPr/>
          <p:nvPr/>
        </p:nvSpPr>
        <p:spPr>
          <a:xfrm>
            <a:off x="0" y="6126480"/>
            <a:ext cx="12191695" cy="365760"/>
          </a:xfrm>
          <a:prstGeom prst="rect">
            <a:avLst/>
          </a:prstGeom>
          <a:noFill/>
          <a:ln/>
        </p:spPr>
        <p:txBody>
          <a:bodyPr wrap="square" rtlCol="0" anchor="ctr"/>
          <a:lstStyle/>
          <a:p>
            <a:pPr marL="0" indent="0" algn="ctr">
              <a:buNone/>
            </a:pPr>
            <a:r>
              <a:rPr lang="en-US" sz="1100" dirty="0">
                <a:solidFill>
                  <a:srgbClr val="9FB0E8"/>
                </a:solidFill>
                <a:latin typeface="Calibri" pitchFamily="34" charset="0"/>
                <a:ea typeface="Calibri" pitchFamily="34" charset="-122"/>
                <a:cs typeface="Calibri" pitchFamily="34" charset="-120"/>
              </a:rPr>
              <a:t>Deborah Obimakinde |  Bank Fraud Detection Analysis  |  July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2980</TotalTime>
  <Words>1231</Words>
  <Application>Microsoft Office PowerPoint</Application>
  <PresentationFormat>Widescreen</PresentationFormat>
  <Paragraphs>154</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Fraud Detection Analysis - Executive Report</dc:title>
  <dc:subject>PptxGenJS Presentation</dc:subject>
  <dc:creator>Data Analytics Team</dc:creator>
  <cp:lastModifiedBy>Deborah Obimakinde</cp:lastModifiedBy>
  <cp:revision>3</cp:revision>
  <dcterms:created xsi:type="dcterms:W3CDTF">2026-07-08T19:13:58Z</dcterms:created>
  <dcterms:modified xsi:type="dcterms:W3CDTF">2026-07-11T20:24:03Z</dcterms:modified>
</cp:coreProperties>
</file>